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7"/>
  </p:notesMasterIdLst>
  <p:handoutMasterIdLst>
    <p:handoutMasterId r:id="rId58"/>
  </p:handoutMasterIdLst>
  <p:sldIdLst>
    <p:sldId id="256" r:id="rId5"/>
    <p:sldId id="294" r:id="rId6"/>
    <p:sldId id="295" r:id="rId7"/>
    <p:sldId id="296" r:id="rId8"/>
    <p:sldId id="297" r:id="rId9"/>
    <p:sldId id="292" r:id="rId10"/>
    <p:sldId id="298" r:id="rId11"/>
    <p:sldId id="299" r:id="rId12"/>
    <p:sldId id="300" r:id="rId13"/>
    <p:sldId id="283" r:id="rId14"/>
    <p:sldId id="284" r:id="rId15"/>
    <p:sldId id="285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287" r:id="rId28"/>
    <p:sldId id="286" r:id="rId29"/>
    <p:sldId id="288" r:id="rId30"/>
    <p:sldId id="289" r:id="rId31"/>
    <p:sldId id="290" r:id="rId32"/>
    <p:sldId id="291" r:id="rId33"/>
    <p:sldId id="293" r:id="rId34"/>
    <p:sldId id="274" r:id="rId35"/>
    <p:sldId id="275" r:id="rId36"/>
    <p:sldId id="276" r:id="rId37"/>
    <p:sldId id="277" r:id="rId38"/>
    <p:sldId id="267" r:id="rId39"/>
    <p:sldId id="278" r:id="rId40"/>
    <p:sldId id="279" r:id="rId41"/>
    <p:sldId id="301" r:id="rId42"/>
    <p:sldId id="257" r:id="rId43"/>
    <p:sldId id="258" r:id="rId44"/>
    <p:sldId id="262" r:id="rId45"/>
    <p:sldId id="268" r:id="rId46"/>
    <p:sldId id="269" r:id="rId47"/>
    <p:sldId id="265" r:id="rId48"/>
    <p:sldId id="264" r:id="rId49"/>
    <p:sldId id="263" r:id="rId50"/>
    <p:sldId id="270" r:id="rId51"/>
    <p:sldId id="259" r:id="rId52"/>
    <p:sldId id="260" r:id="rId53"/>
    <p:sldId id="261" r:id="rId54"/>
    <p:sldId id="266" r:id="rId55"/>
    <p:sldId id="271" r:id="rId5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0704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63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61-4FC4-B3E4-D37A5AEE23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61-4FC4-B3E4-D37A5AEE23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61-4FC4-B3E4-D37A5AEE23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9001183"/>
        <c:axId val="228998687"/>
      </c:barChart>
      <c:catAx>
        <c:axId val="229001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28998687"/>
        <c:crosses val="autoZero"/>
        <c:auto val="1"/>
        <c:lblAlgn val="ctr"/>
        <c:lblOffset val="100"/>
        <c:noMultiLvlLbl val="0"/>
      </c:catAx>
      <c:valAx>
        <c:axId val="228998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29001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 rtlCol="0"/>
        <a:lstStyle>
          <a:defPPr>
            <a:defRPr lang="pt-BR"/>
          </a:defPPr>
        </a:lstStyle>
        <a:p>
          <a:pPr rtl="0"/>
          <a:endParaRPr lang="pt-BR"/>
        </a:p>
      </dgm:t>
    </dgm:pt>
    <dgm:pt modelId="{8FE81FEC-2664-411F-AEB3-065F29F52751}">
      <dgm:prSet custT="1"/>
      <dgm:spPr/>
      <dgm:t>
        <a:bodyPr lIns="182880" tIns="182880" rIns="182880" bIns="182880" rtlCol="0"/>
        <a:lstStyle>
          <a:defPPr>
            <a:defRPr lang="pt-BR"/>
          </a:defPPr>
        </a:lstStyle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spc="5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Implante redes estratégicas com necessidades de comércio eletrônico convincentes</a:t>
          </a:r>
        </a:p>
      </dgm:t>
    </dgm:pt>
    <dgm:pt modelId="{BCBC007E-0269-421B-9C41-DE26D5C3A822}" type="parTrans" cxnId="{711E093C-AD42-45A4-8D40-A2D39702062E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80230EB7-7230-4881-A631-309C07417378}" type="sibTrans" cxnId="{711E093C-AD42-45A4-8D40-A2D39702062E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73D947E0-108F-4D20-A71E-3CF329F97212}">
      <dgm:prSet phldr="0" custT="1"/>
      <dgm:spPr/>
      <dgm:t>
        <a:bodyPr rtlCol="0"/>
        <a:lstStyle>
          <a:defPPr>
            <a:defRPr lang="pt-BR"/>
          </a:defPPr>
        </a:lstStyle>
        <a:p>
          <a:pPr marL="0" indent="0" algn="ctr" defTabSz="914400" rtl="0" eaLnBrk="1" latinLnBrk="0" hangingPunct="1">
            <a:lnSpc>
              <a:spcPct val="90000"/>
            </a:lnSpc>
            <a:spcBef>
              <a:spcPts val="1000"/>
            </a:spcBef>
            <a:buFont typeface="Arial" panose="020B0604020202020204" pitchFamily="34" charset="0"/>
            <a:buNone/>
          </a:pPr>
          <a:r>
            <a:rPr lang="pt-BR" sz="1600" kern="1200" spc="150" noProof="0" dirty="0">
              <a:solidFill>
                <a:schemeClr val="tx1"/>
              </a:solidFill>
              <a:latin typeface="+mj-lt"/>
              <a:ea typeface="+mj-ea"/>
              <a:cs typeface="+mj-cs"/>
            </a:rPr>
            <a:t>PLANEJAMENTO</a:t>
          </a:r>
        </a:p>
      </dgm:t>
    </dgm:pt>
    <dgm:pt modelId="{9D249532-A24D-4D8F-848A-9F42F2E486C9}" type="parTrans" cxnId="{A0077D09-C12C-46D0-8DF7-194B6911362A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AE813459-65AB-4FA9-B717-330DDA6DFA4E}" type="sibTrans" cxnId="{A0077D09-C12C-46D0-8DF7-194B6911362A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30A490C8-22B4-4D68-875C-0F0DE2FF864D}">
      <dgm:prSet phldr="0" custT="1"/>
      <dgm:spPr/>
      <dgm:t>
        <a:bodyPr rtlCol="0"/>
        <a:lstStyle>
          <a:defPPr>
            <a:defRPr lang="pt-BR"/>
          </a:defPPr>
        </a:lstStyle>
        <a:p>
          <a:pPr marL="0" rtl="0">
            <a:lnSpc>
              <a:spcPct val="100000"/>
            </a:lnSpc>
          </a:pPr>
          <a:r>
            <a:rPr lang="pt-BR" sz="1400" spc="50" noProof="0" dirty="0" err="1">
              <a:latin typeface="+mn-lt"/>
            </a:rPr>
            <a:t>Sinergizar</a:t>
          </a:r>
          <a:r>
            <a:rPr lang="pt-BR" sz="1400" spc="50" noProof="0" dirty="0">
              <a:latin typeface="+mn-lt"/>
            </a:rPr>
            <a:t> o comércio eletrônico dimensionável</a:t>
          </a:r>
        </a:p>
      </dgm:t>
    </dgm:pt>
    <dgm:pt modelId="{035C64B0-4F0C-4FD1-BD23-B1D4C9887CBE}" type="parTrans" cxnId="{381FE1CC-8184-4745-8EB3-6DE11655998D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45495DA8-8707-41E3-A12B-FA5766269C44}" type="sibTrans" cxnId="{381FE1CC-8184-4745-8EB3-6DE11655998D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B1AFA1AF-0FF8-45B3-A6D0-0E255A2F637D}">
      <dgm:prSet phldr="0" custT="1"/>
      <dgm:spPr/>
      <dgm:t>
        <a:bodyPr rtlCol="0"/>
        <a:lstStyle>
          <a:defPPr>
            <a:defRPr lang="pt-BR"/>
          </a:defPPr>
        </a:lstStyle>
        <a:p>
          <a:pPr marL="0" rtl="0"/>
          <a:r>
            <a:rPr lang="pt-BR" sz="1600" kern="1200" spc="150" noProof="0" dirty="0">
              <a:solidFill>
                <a:prstClr val="black"/>
              </a:solidFill>
              <a:latin typeface="Tenorite"/>
              <a:ea typeface="+mn-ea"/>
              <a:cs typeface="+mn-cs"/>
            </a:rPr>
            <a:t>MARKETING</a:t>
          </a:r>
        </a:p>
      </dgm:t>
    </dgm:pt>
    <dgm:pt modelId="{10C68AF5-481C-45AA-A216-8BBBB04515B9}" type="parTrans" cxnId="{F28D7702-2FC3-49BD-BB13-C989E5EE622A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88649F7A-400B-4056-965D-C9AC0B3AD942}" type="sibTrans" cxnId="{F28D7702-2FC3-49BD-BB13-C989E5EE622A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50418D2B-9486-42DE-AFDD-1D31420040FF}">
      <dgm:prSet phldr="0" custT="1"/>
      <dgm:spPr/>
      <dgm:t>
        <a:bodyPr rtlCol="0"/>
        <a:lstStyle>
          <a:defPPr>
            <a:defRPr lang="pt-BR"/>
          </a:defPPr>
        </a:lstStyle>
        <a:p>
          <a:pPr marL="0" rtl="0">
            <a:lnSpc>
              <a:spcPct val="100000"/>
            </a:lnSpc>
          </a:pPr>
          <a:r>
            <a:rPr lang="pt-BR" sz="1400" spc="50" noProof="0" dirty="0">
              <a:latin typeface="+mn-lt"/>
            </a:rPr>
            <a:t>Disseminar métricas padronizadas</a:t>
          </a:r>
        </a:p>
      </dgm:t>
    </dgm:pt>
    <dgm:pt modelId="{D5A17F6B-93F5-442B-938A-0F38C281BE88}" type="parTrans" cxnId="{5A5BA622-5DEB-48B9-88D9-C1DE36C711E5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1D87A0A5-8024-4710-846B-D5BFAC785107}" type="sibTrans" cxnId="{5A5BA622-5DEB-48B9-88D9-C1DE36C711E5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E9682B4F-0217-4B50-923E-C104AA24290F}">
      <dgm:prSet phldr="0" custT="1"/>
      <dgm:spPr/>
      <dgm:t>
        <a:bodyPr rtlCol="0"/>
        <a:lstStyle>
          <a:defPPr>
            <a:defRPr lang="pt-BR"/>
          </a:defPPr>
        </a:lstStyle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spc="150" noProof="0" dirty="0">
              <a:solidFill>
                <a:prstClr val="black"/>
              </a:solidFill>
              <a:latin typeface="Tenorite"/>
              <a:ea typeface="+mn-ea"/>
              <a:cs typeface="+mn-cs"/>
            </a:rPr>
            <a:t>DESIGN</a:t>
          </a:r>
        </a:p>
      </dgm:t>
    </dgm:pt>
    <dgm:pt modelId="{E0F6C4AF-9BBB-4698-91D7-F9AE3EACBD5D}" type="parTrans" cxnId="{6C23D0C9-74B2-4C8B-AB2F-A03B3B0EBE56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B8632E42-D7EB-4C31-877E-6F1B2801851A}" type="sibTrans" cxnId="{6C23D0C9-74B2-4C8B-AB2F-A03B3B0EBE56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0EC0C300-11E4-45CF-8418-973585107209}">
      <dgm:prSet phldr="0" custT="1"/>
      <dgm:spPr/>
      <dgm:t>
        <a:bodyPr rtlCol="0"/>
        <a:lstStyle>
          <a:defPPr>
            <a:defRPr lang="pt-BR"/>
          </a:defPPr>
        </a:lstStyle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spc="5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Coordenar aplicativos de comércio eletrônico</a:t>
          </a:r>
        </a:p>
      </dgm:t>
    </dgm:pt>
    <dgm:pt modelId="{1E4DD98E-100E-46B7-B24A-408BBF69E9FA}" type="parTrans" cxnId="{51563A4F-C0EB-47D6-B5BC-47A4E599AD4B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90FAB5D1-62B3-4FF6-A07D-EE607F529C32}" type="sibTrans" cxnId="{51563A4F-C0EB-47D6-B5BC-47A4E599AD4B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FEB4A941-E9FA-4A86-A673-85FF34B35F20}">
      <dgm:prSet phldr="0" custT="1"/>
      <dgm:spPr/>
      <dgm:t>
        <a:bodyPr rtlCol="0"/>
        <a:lstStyle>
          <a:defPPr>
            <a:defRPr lang="pt-BR"/>
          </a:defPPr>
        </a:lstStyle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spc="5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Promover metodologias holisticamente superiores</a:t>
          </a:r>
        </a:p>
      </dgm:t>
    </dgm:pt>
    <dgm:pt modelId="{39522508-BC4E-4DD5-A744-AFEFFE36DB74}" type="parTrans" cxnId="{F942F56C-9025-4AA1-9B36-C5AE0A93B0F5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97624CC8-6315-4683-B26C-C30D552DA5A6}" type="sibTrans" cxnId="{F942F56C-9025-4AA1-9B36-C5AE0A93B0F5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A2322D3A-7AC2-4C5C-9D7E-EAB2313D47D4}">
      <dgm:prSet phldr="0" custT="1"/>
      <dgm:spPr/>
      <dgm:t>
        <a:bodyPr rtlCol="0"/>
        <a:lstStyle>
          <a:defPPr>
            <a:defRPr lang="pt-BR"/>
          </a:defPPr>
        </a:lstStyle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spc="150" noProof="0" dirty="0">
              <a:solidFill>
                <a:prstClr val="black"/>
              </a:solidFill>
              <a:latin typeface="Tenorite"/>
              <a:ea typeface="+mn-ea"/>
              <a:cs typeface="+mn-cs"/>
            </a:rPr>
            <a:t>LANÇAMENTO</a:t>
          </a:r>
        </a:p>
      </dgm:t>
    </dgm:pt>
    <dgm:pt modelId="{4A8C15D4-B36F-4764-B4FF-F2AF790D3E17}" type="parTrans" cxnId="{179FAFCF-F878-464E-A8A6-1185EFA0E380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84DE1C3A-3FC7-4DB3-88ED-33F65A71557A}" type="sibTrans" cxnId="{179FAFCF-F878-464E-A8A6-1185EFA0E380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4F85505A-81B6-4FDA-A144-900B71DAD946}">
      <dgm:prSet phldr="0" custT="1"/>
      <dgm:spPr/>
      <dgm:t>
        <a:bodyPr rtlCol="0"/>
        <a:lstStyle>
          <a:defPPr>
            <a:defRPr lang="pt-BR"/>
          </a:defPPr>
        </a:lstStyle>
        <a:p>
          <a:pPr marL="0" rtl="0"/>
          <a:r>
            <a:rPr lang="pt-BR" sz="1600" kern="1200" spc="150" noProof="0" dirty="0">
              <a:solidFill>
                <a:prstClr val="black"/>
              </a:solidFill>
              <a:latin typeface="Tenorite"/>
              <a:ea typeface="+mn-ea"/>
              <a:cs typeface="+mn-cs"/>
            </a:rPr>
            <a:t>ESTRATÉGIA</a:t>
          </a:r>
        </a:p>
      </dgm:t>
    </dgm:pt>
    <dgm:pt modelId="{D9A96E25-7BBE-4DDD-8DDE-B4970D4340A8}" type="parTrans" cxnId="{2D633B56-E147-4EFC-B9EE-6C0413F329B0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68F74A88-49DC-44B1-BC0D-220A7B97601C}" type="sibTrans" cxnId="{2D633B56-E147-4EFC-B9EE-6C0413F329B0}">
      <dgm:prSet/>
      <dgm:spPr/>
      <dgm:t>
        <a:bodyPr rtlCol="0"/>
        <a:lstStyle>
          <a:defPPr>
            <a:defRPr lang="pt-BR"/>
          </a:defPPr>
        </a:lstStyle>
        <a:p>
          <a:pPr rtl="0"/>
          <a:endParaRPr lang="pt-BR" noProof="0" dirty="0">
            <a:latin typeface="+mn-lt"/>
          </a:endParaRPr>
        </a:p>
      </dgm:t>
    </dgm:pt>
    <dgm:pt modelId="{E4B4F7C4-5024-45F0-9FD7-C5068A1AE6C4}" type="pres">
      <dgm:prSet presAssocID="{0DD8915E-DC14-41D6-9BB5-F49E1C265163}" presName="Name0" presStyleCnt="0">
        <dgm:presLayoutVars>
          <dgm:dir/>
          <dgm:animLvl val="lvl"/>
          <dgm:resizeHandles val="exact"/>
        </dgm:presLayoutVars>
      </dgm:prSet>
      <dgm:spPr/>
    </dgm:pt>
    <dgm:pt modelId="{473E2436-1BC1-4A6C-8568-5C38418F52D1}" type="pres">
      <dgm:prSet presAssocID="{73D947E0-108F-4D20-A71E-3CF329F97212}" presName="composite" presStyleCnt="0"/>
      <dgm:spPr/>
    </dgm:pt>
    <dgm:pt modelId="{BDBD7220-3F85-45D2-BED6-5BBFBC23EAE3}" type="pres">
      <dgm:prSet presAssocID="{73D947E0-108F-4D20-A71E-3CF329F97212}" presName="parTx" presStyleLbl="alignNode1" presStyleIdx="0" presStyleCnt="5">
        <dgm:presLayoutVars>
          <dgm:chMax val="0"/>
          <dgm:chPref val="0"/>
        </dgm:presLayoutVars>
      </dgm:prSet>
      <dgm:spPr/>
    </dgm:pt>
    <dgm:pt modelId="{22359DD7-1BFB-4900-BAE6-6084F2F57988}" type="pres">
      <dgm:prSet presAssocID="{73D947E0-108F-4D20-A71E-3CF329F97212}" presName="desTx" presStyleLbl="alignAccFollowNode1" presStyleIdx="0" presStyleCnt="5">
        <dgm:presLayoutVars/>
      </dgm:prSet>
      <dgm:spPr/>
    </dgm:pt>
    <dgm:pt modelId="{38C65349-0C40-499F-9765-B6F38C2DC3C3}" type="pres">
      <dgm:prSet presAssocID="{AE813459-65AB-4FA9-B717-330DDA6DFA4E}" presName="space" presStyleCnt="0"/>
      <dgm:spPr/>
    </dgm:pt>
    <dgm:pt modelId="{C6650FDC-3601-45F5-9125-6E3F90A53F8A}" type="pres">
      <dgm:prSet presAssocID="{B1AFA1AF-0FF8-45B3-A6D0-0E255A2F637D}" presName="composite" presStyleCnt="0"/>
      <dgm:spPr/>
    </dgm:pt>
    <dgm:pt modelId="{C4F84DEA-2002-4D32-8E80-70EEE05E345A}" type="pres">
      <dgm:prSet presAssocID="{B1AFA1AF-0FF8-45B3-A6D0-0E255A2F637D}" presName="parTx" presStyleLbl="alignNode1" presStyleIdx="1" presStyleCnt="5">
        <dgm:presLayoutVars>
          <dgm:chMax val="0"/>
          <dgm:chPref val="0"/>
        </dgm:presLayoutVars>
      </dgm:prSet>
      <dgm:spPr/>
    </dgm:pt>
    <dgm:pt modelId="{4FEB85EB-D046-4CDB-8A62-BBCE260C4490}" type="pres">
      <dgm:prSet presAssocID="{B1AFA1AF-0FF8-45B3-A6D0-0E255A2F637D}" presName="desTx" presStyleLbl="alignAccFollowNode1" presStyleIdx="1" presStyleCnt="5">
        <dgm:presLayoutVars/>
      </dgm:prSet>
      <dgm:spPr/>
    </dgm:pt>
    <dgm:pt modelId="{40F59683-723F-44D1-8379-95635EED1AA8}" type="pres">
      <dgm:prSet presAssocID="{88649F7A-400B-4056-965D-C9AC0B3AD942}" presName="space" presStyleCnt="0"/>
      <dgm:spPr/>
    </dgm:pt>
    <dgm:pt modelId="{BB2E4F65-C461-40C3-BC82-6A29AA851F44}" type="pres">
      <dgm:prSet presAssocID="{E9682B4F-0217-4B50-923E-C104AA24290F}" presName="composite" presStyleCnt="0"/>
      <dgm:spPr/>
    </dgm:pt>
    <dgm:pt modelId="{49B7F8FA-D256-41EF-9327-52A3551D9A60}" type="pres">
      <dgm:prSet presAssocID="{E9682B4F-0217-4B50-923E-C104AA24290F}" presName="parTx" presStyleLbl="alignNode1" presStyleIdx="2" presStyleCnt="5">
        <dgm:presLayoutVars>
          <dgm:chMax val="0"/>
          <dgm:chPref val="0"/>
        </dgm:presLayoutVars>
      </dgm:prSet>
      <dgm:spPr/>
    </dgm:pt>
    <dgm:pt modelId="{6B5FE59C-B471-448A-AA7A-B526DCC4D4CA}" type="pres">
      <dgm:prSet presAssocID="{E9682B4F-0217-4B50-923E-C104AA24290F}" presName="desTx" presStyleLbl="alignAccFollowNode1" presStyleIdx="2" presStyleCnt="5">
        <dgm:presLayoutVars/>
      </dgm:prSet>
      <dgm:spPr/>
    </dgm:pt>
    <dgm:pt modelId="{A91542D9-4FB3-4302-AD03-3D6EF82E6748}" type="pres">
      <dgm:prSet presAssocID="{B8632E42-D7EB-4C31-877E-6F1B2801851A}" presName="space" presStyleCnt="0"/>
      <dgm:spPr/>
    </dgm:pt>
    <dgm:pt modelId="{1A7C3045-2DAF-4A19-82DB-79436B2E4575}" type="pres">
      <dgm:prSet presAssocID="{4F85505A-81B6-4FDA-A144-900B71DAD946}" presName="composite" presStyleCnt="0"/>
      <dgm:spPr/>
    </dgm:pt>
    <dgm:pt modelId="{4132ECB1-6BEF-4935-AFA3-B2EAA48FDE7E}" type="pres">
      <dgm:prSet presAssocID="{4F85505A-81B6-4FDA-A144-900B71DAD946}" presName="parTx" presStyleLbl="alignNode1" presStyleIdx="3" presStyleCnt="5">
        <dgm:presLayoutVars>
          <dgm:chMax val="0"/>
          <dgm:chPref val="0"/>
        </dgm:presLayoutVars>
      </dgm:prSet>
      <dgm:spPr/>
    </dgm:pt>
    <dgm:pt modelId="{C42A8BDE-B838-475D-AFDE-17B60D744AB6}" type="pres">
      <dgm:prSet presAssocID="{4F85505A-81B6-4FDA-A144-900B71DAD946}" presName="desTx" presStyleLbl="alignAccFollowNode1" presStyleIdx="3" presStyleCnt="5">
        <dgm:presLayoutVars/>
      </dgm:prSet>
      <dgm:spPr/>
    </dgm:pt>
    <dgm:pt modelId="{D0DC94A3-770A-4810-A89A-7DB7918862F6}" type="pres">
      <dgm:prSet presAssocID="{68F74A88-49DC-44B1-BC0D-220A7B97601C}" presName="space" presStyleCnt="0"/>
      <dgm:spPr/>
    </dgm:pt>
    <dgm:pt modelId="{647B2244-AC3A-441A-A6FB-6136FA04F429}" type="pres">
      <dgm:prSet presAssocID="{A2322D3A-7AC2-4C5C-9D7E-EAB2313D47D4}" presName="composite" presStyleCnt="0"/>
      <dgm:spPr/>
    </dgm:pt>
    <dgm:pt modelId="{59606EB9-9F10-4D12-A33F-A242FDCC0D0F}" type="pres">
      <dgm:prSet presAssocID="{A2322D3A-7AC2-4C5C-9D7E-EAB2313D47D4}" presName="parTx" presStyleLbl="alignNode1" presStyleIdx="4" presStyleCnt="5">
        <dgm:presLayoutVars>
          <dgm:chMax val="0"/>
          <dgm:chPref val="0"/>
        </dgm:presLayoutVars>
      </dgm:prSet>
      <dgm:spPr/>
    </dgm:pt>
    <dgm:pt modelId="{C8429E68-36DD-4F6A-A2F4-7CCDADCEFAD1}" type="pres">
      <dgm:prSet presAssocID="{A2322D3A-7AC2-4C5C-9D7E-EAB2313D47D4}" presName="desTx" presStyleLbl="alignAccFollowNode1" presStyleIdx="4" presStyleCnt="5">
        <dgm:presLayoutVars/>
      </dgm:prSet>
      <dgm:spPr/>
    </dgm:pt>
  </dgm:ptLst>
  <dgm:cxnLst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31826907-E438-4A1B-A800-F181C547104F}" type="presOf" srcId="{30A490C8-22B4-4D68-875C-0F0DE2FF864D}" destId="{22359DD7-1BFB-4900-BAE6-6084F2F57988}" srcOrd="0" destOrd="0" presId="urn:microsoft.com/office/officeart/2016/7/layout/HorizontalActionList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711E093C-AD42-45A4-8D40-A2D39702062E}" srcId="{A2322D3A-7AC2-4C5C-9D7E-EAB2313D47D4}" destId="{8FE81FEC-2664-411F-AEB3-065F29F52751}" srcOrd="0" destOrd="0" parTransId="{BCBC007E-0269-421B-9C41-DE26D5C3A822}" sibTransId="{80230EB7-7230-4881-A631-309C07417378}"/>
    <dgm:cxn modelId="{77A55366-077C-403B-A9E1-B9C6B5CA3288}" type="presOf" srcId="{73D947E0-108F-4D20-A71E-3CF329F97212}" destId="{BDBD7220-3F85-45D2-BED6-5BBFBC23EAE3}" srcOrd="0" destOrd="0" presId="urn:microsoft.com/office/officeart/2016/7/layout/HorizontalActionList"/>
    <dgm:cxn modelId="{F942F56C-9025-4AA1-9B36-C5AE0A93B0F5}" srcId="{4F85505A-81B6-4FDA-A144-900B71DAD946}" destId="{FEB4A941-E9FA-4A86-A673-85FF34B35F20}" srcOrd="0" destOrd="0" parTransId="{39522508-BC4E-4DD5-A744-AFEFFE36DB74}" sibTransId="{97624CC8-6315-4683-B26C-C30D552DA5A6}"/>
    <dgm:cxn modelId="{B7F6ED6E-855A-4A7B-AE18-3BD04546002C}" type="presOf" srcId="{B1AFA1AF-0FF8-45B3-A6D0-0E255A2F637D}" destId="{C4F84DEA-2002-4D32-8E80-70EEE05E345A}" srcOrd="0" destOrd="0" presId="urn:microsoft.com/office/officeart/2016/7/layout/HorizontalActionList"/>
    <dgm:cxn modelId="{51563A4F-C0EB-47D6-B5BC-47A4E599AD4B}" srcId="{E9682B4F-0217-4B50-923E-C104AA24290F}" destId="{0EC0C300-11E4-45CF-8418-973585107209}" srcOrd="0" destOrd="0" parTransId="{1E4DD98E-100E-46B7-B24A-408BBF69E9FA}" sibTransId="{90FAB5D1-62B3-4FF6-A07D-EE607F529C32}"/>
    <dgm:cxn modelId="{6291F24F-B536-4688-99BC-6A4CB5E15E15}" type="presOf" srcId="{4F85505A-81B6-4FDA-A144-900B71DAD946}" destId="{4132ECB1-6BEF-4935-AFA3-B2EAA48FDE7E}" srcOrd="0" destOrd="0" presId="urn:microsoft.com/office/officeart/2016/7/layout/HorizontalActionList"/>
    <dgm:cxn modelId="{2D633B56-E147-4EFC-B9EE-6C0413F329B0}" srcId="{0DD8915E-DC14-41D6-9BB5-F49E1C265163}" destId="{4F85505A-81B6-4FDA-A144-900B71DAD946}" srcOrd="3" destOrd="0" parTransId="{D9A96E25-7BBE-4DDD-8DDE-B4970D4340A8}" sibTransId="{68F74A88-49DC-44B1-BC0D-220A7B97601C}"/>
    <dgm:cxn modelId="{110097B3-0B24-42EE-9C79-845C028B379B}" type="presOf" srcId="{E9682B4F-0217-4B50-923E-C104AA24290F}" destId="{49B7F8FA-D256-41EF-9327-52A3551D9A60}" srcOrd="0" destOrd="0" presId="urn:microsoft.com/office/officeart/2016/7/layout/HorizontalActionList"/>
    <dgm:cxn modelId="{C54EA6C2-0E6B-42D8-9A4A-4456127A91A8}" type="presOf" srcId="{A2322D3A-7AC2-4C5C-9D7E-EAB2313D47D4}" destId="{59606EB9-9F10-4D12-A33F-A242FDCC0D0F}" srcOrd="0" destOrd="0" presId="urn:microsoft.com/office/officeart/2016/7/layout/HorizontalActionList"/>
    <dgm:cxn modelId="{E339F9C8-AD35-4E33-9434-788C81500EB2}" type="presOf" srcId="{8FE81FEC-2664-411F-AEB3-065F29F52751}" destId="{C8429E68-36DD-4F6A-A2F4-7CCDADCEFAD1}" srcOrd="0" destOrd="0" presId="urn:microsoft.com/office/officeart/2016/7/layout/HorizontalActionList"/>
    <dgm:cxn modelId="{6C23D0C9-74B2-4C8B-AB2F-A03B3B0EBE56}" srcId="{0DD8915E-DC14-41D6-9BB5-F49E1C265163}" destId="{E9682B4F-0217-4B50-923E-C104AA24290F}" srcOrd="2" destOrd="0" parTransId="{E0F6C4AF-9BBB-4698-91D7-F9AE3EACBD5D}" sibTransId="{B8632E42-D7EB-4C31-877E-6F1B2801851A}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179FAFCF-F878-464E-A8A6-1185EFA0E380}" srcId="{0DD8915E-DC14-41D6-9BB5-F49E1C265163}" destId="{A2322D3A-7AC2-4C5C-9D7E-EAB2313D47D4}" srcOrd="4" destOrd="0" parTransId="{4A8C15D4-B36F-4764-B4FF-F2AF790D3E17}" sibTransId="{84DE1C3A-3FC7-4DB3-88ED-33F65A71557A}"/>
    <dgm:cxn modelId="{8CB96BD1-8B01-481A-B525-C5C507C9951C}" type="presOf" srcId="{0EC0C300-11E4-45CF-8418-973585107209}" destId="{6B5FE59C-B471-448A-AA7A-B526DCC4D4CA}" srcOrd="0" destOrd="0" presId="urn:microsoft.com/office/officeart/2016/7/layout/HorizontalActionList"/>
    <dgm:cxn modelId="{36A4EED2-16DE-4F21-9B57-BD053CD7ED3D}" type="presOf" srcId="{FEB4A941-E9FA-4A86-A673-85FF34B35F20}" destId="{C42A8BDE-B838-475D-AFDE-17B60D744AB6}" srcOrd="0" destOrd="0" presId="urn:microsoft.com/office/officeart/2016/7/layout/HorizontalActionList"/>
    <dgm:cxn modelId="{BF1349D4-34AE-476D-8D7B-F3ABAB74304F}" type="presOf" srcId="{50418D2B-9486-42DE-AFDD-1D31420040FF}" destId="{4FEB85EB-D046-4CDB-8A62-BBCE260C4490}" srcOrd="0" destOrd="0" presId="urn:microsoft.com/office/officeart/2016/7/layout/HorizontalActionList"/>
    <dgm:cxn modelId="{825BC9D8-F515-4FBF-8CF8-23CD32968E1D}" type="presOf" srcId="{0DD8915E-DC14-41D6-9BB5-F49E1C265163}" destId="{E4B4F7C4-5024-45F0-9FD7-C5068A1AE6C4}" srcOrd="0" destOrd="0" presId="urn:microsoft.com/office/officeart/2016/7/layout/HorizontalActionList"/>
    <dgm:cxn modelId="{E9D2B9D9-3B26-471C-AF45-E02D1C258CD3}" type="presParOf" srcId="{E4B4F7C4-5024-45F0-9FD7-C5068A1AE6C4}" destId="{473E2436-1BC1-4A6C-8568-5C38418F52D1}" srcOrd="0" destOrd="0" presId="urn:microsoft.com/office/officeart/2016/7/layout/HorizontalActionList"/>
    <dgm:cxn modelId="{A151C920-5872-4C88-8534-922E9C800B9B}" type="presParOf" srcId="{473E2436-1BC1-4A6C-8568-5C38418F52D1}" destId="{BDBD7220-3F85-45D2-BED6-5BBFBC23EAE3}" srcOrd="0" destOrd="0" presId="urn:microsoft.com/office/officeart/2016/7/layout/HorizontalActionList"/>
    <dgm:cxn modelId="{45373909-AB37-4D9A-936C-DC8447BC111D}" type="presParOf" srcId="{473E2436-1BC1-4A6C-8568-5C38418F52D1}" destId="{22359DD7-1BFB-4900-BAE6-6084F2F57988}" srcOrd="1" destOrd="0" presId="urn:microsoft.com/office/officeart/2016/7/layout/HorizontalActionList"/>
    <dgm:cxn modelId="{CFC7E7C1-85BC-47FC-BC11-D0BACA8440B9}" type="presParOf" srcId="{E4B4F7C4-5024-45F0-9FD7-C5068A1AE6C4}" destId="{38C65349-0C40-499F-9765-B6F38C2DC3C3}" srcOrd="1" destOrd="0" presId="urn:microsoft.com/office/officeart/2016/7/layout/HorizontalActionList"/>
    <dgm:cxn modelId="{86FF1107-69E9-4310-A0D8-2BF61292A72B}" type="presParOf" srcId="{E4B4F7C4-5024-45F0-9FD7-C5068A1AE6C4}" destId="{C6650FDC-3601-45F5-9125-6E3F90A53F8A}" srcOrd="2" destOrd="0" presId="urn:microsoft.com/office/officeart/2016/7/layout/HorizontalActionList"/>
    <dgm:cxn modelId="{1C7F1C64-2F3D-4695-A56C-92B1B848B0C2}" type="presParOf" srcId="{C6650FDC-3601-45F5-9125-6E3F90A53F8A}" destId="{C4F84DEA-2002-4D32-8E80-70EEE05E345A}" srcOrd="0" destOrd="0" presId="urn:microsoft.com/office/officeart/2016/7/layout/HorizontalActionList"/>
    <dgm:cxn modelId="{DC59A3FF-666D-48A7-B3BE-98A9F829402D}" type="presParOf" srcId="{C6650FDC-3601-45F5-9125-6E3F90A53F8A}" destId="{4FEB85EB-D046-4CDB-8A62-BBCE260C4490}" srcOrd="1" destOrd="0" presId="urn:microsoft.com/office/officeart/2016/7/layout/HorizontalActionList"/>
    <dgm:cxn modelId="{AAE65B9C-F662-4FAA-8FDB-82E7FB86BB24}" type="presParOf" srcId="{E4B4F7C4-5024-45F0-9FD7-C5068A1AE6C4}" destId="{40F59683-723F-44D1-8379-95635EED1AA8}" srcOrd="3" destOrd="0" presId="urn:microsoft.com/office/officeart/2016/7/layout/HorizontalActionList"/>
    <dgm:cxn modelId="{F5BE37E3-59D0-4D56-B08C-9B1D93695802}" type="presParOf" srcId="{E4B4F7C4-5024-45F0-9FD7-C5068A1AE6C4}" destId="{BB2E4F65-C461-40C3-BC82-6A29AA851F44}" srcOrd="4" destOrd="0" presId="urn:microsoft.com/office/officeart/2016/7/layout/HorizontalActionList"/>
    <dgm:cxn modelId="{1FC3B8DB-8632-4AA8-99E5-4F0C12504130}" type="presParOf" srcId="{BB2E4F65-C461-40C3-BC82-6A29AA851F44}" destId="{49B7F8FA-D256-41EF-9327-52A3551D9A60}" srcOrd="0" destOrd="0" presId="urn:microsoft.com/office/officeart/2016/7/layout/HorizontalActionList"/>
    <dgm:cxn modelId="{03A1CBF9-FFCE-4B8C-9850-8B297556CCF4}" type="presParOf" srcId="{BB2E4F65-C461-40C3-BC82-6A29AA851F44}" destId="{6B5FE59C-B471-448A-AA7A-B526DCC4D4CA}" srcOrd="1" destOrd="0" presId="urn:microsoft.com/office/officeart/2016/7/layout/HorizontalActionList"/>
    <dgm:cxn modelId="{BAB9C1C4-8A05-4AE7-B42E-55875981524E}" type="presParOf" srcId="{E4B4F7C4-5024-45F0-9FD7-C5068A1AE6C4}" destId="{A91542D9-4FB3-4302-AD03-3D6EF82E6748}" srcOrd="5" destOrd="0" presId="urn:microsoft.com/office/officeart/2016/7/layout/HorizontalActionList"/>
    <dgm:cxn modelId="{F7DEAAC8-FCAD-4F6B-92BD-91B8342F3277}" type="presParOf" srcId="{E4B4F7C4-5024-45F0-9FD7-C5068A1AE6C4}" destId="{1A7C3045-2DAF-4A19-82DB-79436B2E4575}" srcOrd="6" destOrd="0" presId="urn:microsoft.com/office/officeart/2016/7/layout/HorizontalActionList"/>
    <dgm:cxn modelId="{13555CA3-20BE-41F8-BD09-0BA8CEE1C702}" type="presParOf" srcId="{1A7C3045-2DAF-4A19-82DB-79436B2E4575}" destId="{4132ECB1-6BEF-4935-AFA3-B2EAA48FDE7E}" srcOrd="0" destOrd="0" presId="urn:microsoft.com/office/officeart/2016/7/layout/HorizontalActionList"/>
    <dgm:cxn modelId="{0848E8B2-6BD5-4CB6-B7E0-F8F1B1F78E2F}" type="presParOf" srcId="{1A7C3045-2DAF-4A19-82DB-79436B2E4575}" destId="{C42A8BDE-B838-475D-AFDE-17B60D744AB6}" srcOrd="1" destOrd="0" presId="urn:microsoft.com/office/officeart/2016/7/layout/HorizontalActionList"/>
    <dgm:cxn modelId="{FD5AD2F1-E5D1-4359-99EB-D3225676DF7F}" type="presParOf" srcId="{E4B4F7C4-5024-45F0-9FD7-C5068A1AE6C4}" destId="{D0DC94A3-770A-4810-A89A-7DB7918862F6}" srcOrd="7" destOrd="0" presId="urn:microsoft.com/office/officeart/2016/7/layout/HorizontalActionList"/>
    <dgm:cxn modelId="{2608DA2F-9259-4A20-98D1-9A5F5780B66F}" type="presParOf" srcId="{E4B4F7C4-5024-45F0-9FD7-C5068A1AE6C4}" destId="{647B2244-AC3A-441A-A6FB-6136FA04F429}" srcOrd="8" destOrd="0" presId="urn:microsoft.com/office/officeart/2016/7/layout/HorizontalActionList"/>
    <dgm:cxn modelId="{F55613FD-292F-4CCF-A44A-E9FC24D70E0E}" type="presParOf" srcId="{647B2244-AC3A-441A-A6FB-6136FA04F429}" destId="{59606EB9-9F10-4D12-A33F-A242FDCC0D0F}" srcOrd="0" destOrd="0" presId="urn:microsoft.com/office/officeart/2016/7/layout/HorizontalActionList"/>
    <dgm:cxn modelId="{7B4FE576-C66F-4D92-B6AC-DA1D068316E4}" type="presParOf" srcId="{647B2244-AC3A-441A-A6FB-6136FA04F429}" destId="{C8429E68-36DD-4F6A-A2F4-7CCDADCEFAD1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D7220-3F85-45D2-BED6-5BBFBC23EAE3}">
      <dsp:nvSpPr>
        <dsp:cNvPr id="0" name=""/>
        <dsp:cNvSpPr/>
      </dsp:nvSpPr>
      <dsp:spPr>
        <a:xfrm>
          <a:off x="8634" y="748982"/>
          <a:ext cx="2013350" cy="6040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sz="1600" kern="1200" spc="150" noProof="0" dirty="0">
              <a:solidFill>
                <a:schemeClr val="tx1"/>
              </a:solidFill>
              <a:latin typeface="+mj-lt"/>
              <a:ea typeface="+mj-ea"/>
              <a:cs typeface="+mj-cs"/>
            </a:rPr>
            <a:t>PLANEJAMENTO</a:t>
          </a:r>
        </a:p>
      </dsp:txBody>
      <dsp:txXfrm>
        <a:off x="8634" y="748982"/>
        <a:ext cx="2013350" cy="604005"/>
      </dsp:txXfrm>
    </dsp:sp>
    <dsp:sp modelId="{22359DD7-1BFB-4900-BAE6-6084F2F57988}">
      <dsp:nvSpPr>
        <dsp:cNvPr id="0" name=""/>
        <dsp:cNvSpPr/>
      </dsp:nvSpPr>
      <dsp:spPr>
        <a:xfrm>
          <a:off x="8634" y="1352987"/>
          <a:ext cx="2013350" cy="1642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rtlCol="0" anchor="t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spc="50" noProof="0" dirty="0" err="1">
              <a:latin typeface="+mn-lt"/>
            </a:rPr>
            <a:t>Sinergizar</a:t>
          </a:r>
          <a:r>
            <a:rPr lang="pt-BR" sz="1400" kern="1200" spc="50" noProof="0" dirty="0">
              <a:latin typeface="+mn-lt"/>
            </a:rPr>
            <a:t> o comércio eletrônico dimensionável</a:t>
          </a:r>
        </a:p>
      </dsp:txBody>
      <dsp:txXfrm>
        <a:off x="8634" y="1352987"/>
        <a:ext cx="2013350" cy="1642942"/>
      </dsp:txXfrm>
    </dsp:sp>
    <dsp:sp modelId="{C4F84DEA-2002-4D32-8E80-70EEE05E345A}">
      <dsp:nvSpPr>
        <dsp:cNvPr id="0" name=""/>
        <dsp:cNvSpPr/>
      </dsp:nvSpPr>
      <dsp:spPr>
        <a:xfrm>
          <a:off x="2129879" y="748982"/>
          <a:ext cx="2013350" cy="6040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spc="150" noProof="0" dirty="0">
              <a:solidFill>
                <a:prstClr val="black"/>
              </a:solidFill>
              <a:latin typeface="Tenorite"/>
              <a:ea typeface="+mn-ea"/>
              <a:cs typeface="+mn-cs"/>
            </a:rPr>
            <a:t>MARKETING</a:t>
          </a:r>
        </a:p>
      </dsp:txBody>
      <dsp:txXfrm>
        <a:off x="2129879" y="748982"/>
        <a:ext cx="2013350" cy="604005"/>
      </dsp:txXfrm>
    </dsp:sp>
    <dsp:sp modelId="{4FEB85EB-D046-4CDB-8A62-BBCE260C4490}">
      <dsp:nvSpPr>
        <dsp:cNvPr id="0" name=""/>
        <dsp:cNvSpPr/>
      </dsp:nvSpPr>
      <dsp:spPr>
        <a:xfrm>
          <a:off x="2129879" y="1352987"/>
          <a:ext cx="2013350" cy="1642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rtlCol="0" anchor="t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spc="50" noProof="0" dirty="0">
              <a:latin typeface="+mn-lt"/>
            </a:rPr>
            <a:t>Disseminar métricas padronizadas</a:t>
          </a:r>
        </a:p>
      </dsp:txBody>
      <dsp:txXfrm>
        <a:off x="2129879" y="1352987"/>
        <a:ext cx="2013350" cy="1642942"/>
      </dsp:txXfrm>
    </dsp:sp>
    <dsp:sp modelId="{49B7F8FA-D256-41EF-9327-52A3551D9A60}">
      <dsp:nvSpPr>
        <dsp:cNvPr id="0" name=""/>
        <dsp:cNvSpPr/>
      </dsp:nvSpPr>
      <dsp:spPr>
        <a:xfrm>
          <a:off x="4251124" y="748982"/>
          <a:ext cx="2013350" cy="6040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spc="150" noProof="0" dirty="0">
              <a:solidFill>
                <a:prstClr val="black"/>
              </a:solidFill>
              <a:latin typeface="Tenorite"/>
              <a:ea typeface="+mn-ea"/>
              <a:cs typeface="+mn-cs"/>
            </a:rPr>
            <a:t>DESIGN</a:t>
          </a:r>
        </a:p>
      </dsp:txBody>
      <dsp:txXfrm>
        <a:off x="4251124" y="748982"/>
        <a:ext cx="2013350" cy="604005"/>
      </dsp:txXfrm>
    </dsp:sp>
    <dsp:sp modelId="{6B5FE59C-B471-448A-AA7A-B526DCC4D4CA}">
      <dsp:nvSpPr>
        <dsp:cNvPr id="0" name=""/>
        <dsp:cNvSpPr/>
      </dsp:nvSpPr>
      <dsp:spPr>
        <a:xfrm>
          <a:off x="4251124" y="1352987"/>
          <a:ext cx="2013350" cy="1642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rtlCol="0" anchor="t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spc="5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Coordenar aplicativos de comércio eletrônico</a:t>
          </a:r>
        </a:p>
      </dsp:txBody>
      <dsp:txXfrm>
        <a:off x="4251124" y="1352987"/>
        <a:ext cx="2013350" cy="1642942"/>
      </dsp:txXfrm>
    </dsp:sp>
    <dsp:sp modelId="{4132ECB1-6BEF-4935-AFA3-B2EAA48FDE7E}">
      <dsp:nvSpPr>
        <dsp:cNvPr id="0" name=""/>
        <dsp:cNvSpPr/>
      </dsp:nvSpPr>
      <dsp:spPr>
        <a:xfrm>
          <a:off x="6372369" y="748982"/>
          <a:ext cx="2013350" cy="6040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spc="150" noProof="0" dirty="0">
              <a:solidFill>
                <a:prstClr val="black"/>
              </a:solidFill>
              <a:latin typeface="Tenorite"/>
              <a:ea typeface="+mn-ea"/>
              <a:cs typeface="+mn-cs"/>
            </a:rPr>
            <a:t>ESTRATÉGIA</a:t>
          </a:r>
        </a:p>
      </dsp:txBody>
      <dsp:txXfrm>
        <a:off x="6372369" y="748982"/>
        <a:ext cx="2013350" cy="604005"/>
      </dsp:txXfrm>
    </dsp:sp>
    <dsp:sp modelId="{C42A8BDE-B838-475D-AFDE-17B60D744AB6}">
      <dsp:nvSpPr>
        <dsp:cNvPr id="0" name=""/>
        <dsp:cNvSpPr/>
      </dsp:nvSpPr>
      <dsp:spPr>
        <a:xfrm>
          <a:off x="6372369" y="1352987"/>
          <a:ext cx="2013350" cy="1642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rtlCol="0" anchor="t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spc="5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Promover metodologias holisticamente superiores</a:t>
          </a:r>
        </a:p>
      </dsp:txBody>
      <dsp:txXfrm>
        <a:off x="6372369" y="1352987"/>
        <a:ext cx="2013350" cy="1642942"/>
      </dsp:txXfrm>
    </dsp:sp>
    <dsp:sp modelId="{59606EB9-9F10-4D12-A33F-A242FDCC0D0F}">
      <dsp:nvSpPr>
        <dsp:cNvPr id="0" name=""/>
        <dsp:cNvSpPr/>
      </dsp:nvSpPr>
      <dsp:spPr>
        <a:xfrm>
          <a:off x="8493615" y="748982"/>
          <a:ext cx="2013350" cy="6040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spc="150" noProof="0" dirty="0">
              <a:solidFill>
                <a:prstClr val="black"/>
              </a:solidFill>
              <a:latin typeface="Tenorite"/>
              <a:ea typeface="+mn-ea"/>
              <a:cs typeface="+mn-cs"/>
            </a:rPr>
            <a:t>LANÇAMENTO</a:t>
          </a:r>
        </a:p>
      </dsp:txBody>
      <dsp:txXfrm>
        <a:off x="8493615" y="748982"/>
        <a:ext cx="2013350" cy="604005"/>
      </dsp:txXfrm>
    </dsp:sp>
    <dsp:sp modelId="{C8429E68-36DD-4F6A-A2F4-7CCDADCEFAD1}">
      <dsp:nvSpPr>
        <dsp:cNvPr id="0" name=""/>
        <dsp:cNvSpPr/>
      </dsp:nvSpPr>
      <dsp:spPr>
        <a:xfrm>
          <a:off x="8493615" y="1352987"/>
          <a:ext cx="2013350" cy="1642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rtlCol="0" anchor="t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spc="5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Implante redes estratégicas com necessidades de comércio eletrônico convincentes</a:t>
          </a:r>
        </a:p>
      </dsp:txBody>
      <dsp:txXfrm>
        <a:off x="8493615" y="1352987"/>
        <a:ext cx="2013350" cy="16429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Lista Horizontal de Ações"/>
  <dgm:desc val="Usado para mostrar listas não sequenciais ou agrupadas de informações. Funciona bem com grandes quantidades de texto. Todo o texto tem o mesmo nível de ênfase, e a direção não está implícita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CCFDB2C-2934-4A17-87C5-D86B1F797B80}" type="datetime1">
              <a:rPr lang="pt-BR" smtClean="0"/>
              <a:t>04/02/2024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28EEFA9E-C190-4F5C-8394-BD5F1CD55C02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A046F3FD-5258-45F1-A056-CFAF800E03AA}" type="datetime1">
              <a:rPr lang="pt-BR" smtClean="0"/>
              <a:pPr/>
              <a:t>04/02/2024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22289C57-55D7-40A4-A101-E74FAC7A092B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3920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9E69-BA47-ED12-9150-C9DE2E6C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D55529-A07F-73D4-FC75-4B1FF00F5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FD8D09-A0D3-9497-C1D5-A287CB5E4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1A2E25-295F-A9EE-AD65-86DEC7B71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4941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CF208-2D67-009B-C576-A7690B9B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502E9E-16F8-CB58-BF66-FC487062A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798BC5C-040A-F8C1-A690-D44DDC66A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3D803D-A78A-5C17-382D-732E4CD86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5653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5723-8B6D-B8C3-8F6D-E199FBAE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117EDA-2EA9-BAAD-936E-9391066CA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C9C0CFB-B399-A826-61A4-57D807EE8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E05136-CCAB-4CBD-8B58-BA6FC6BB5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9026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E05A3-CB64-7364-21BA-B586D035E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98BBE4-8A60-597A-1895-DDAF131D1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660D16-7EBC-4F64-2F6A-E784B7DA6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313CD1-1374-A0ED-507A-FB82B2C46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0347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1568-5FEE-3050-8919-EA98C5617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502237-340C-8F02-3493-B862792B7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2D137CB-AD66-B463-1909-5C78B60E1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2D3D0A-4D2F-67F6-2BEE-EC7A1C535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7513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634A-7936-0980-47C7-6C28BAE4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8E2CC0-BBFF-76B0-FF21-B72152262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C44A9B-0716-AFF2-72F3-129F875CC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4C1ADF-977A-C111-64FA-D8A7A17BD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4639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9CA6-E184-BB3A-D468-F226A84B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E0C18C-C443-0C38-346D-F654A548B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AEE427-DAF4-2350-A6CA-C6E3AA82F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9B4FA1-AC90-C1B0-2511-968A2C189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1457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9DF3-6376-86F9-4CF8-8EAA96F36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5ACCD7-AB4C-C633-0092-17BE787AC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9ED653C-720C-ED24-0C46-DC75D6D4C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2835B4-480D-D15D-2247-7E1D5F3E9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1765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0789-7410-2586-62E8-C86224135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81472C-C885-3063-376F-16DB43FE3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74749C2-11E9-F865-8963-09F3A5CB9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7AB173-DDB6-CEAE-C2F6-3630729F3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7017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8E9B8-46F4-1BCA-65F9-E80991A8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A33BEFA-ED94-0171-490D-9208034DA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00E88D-91B4-67C5-FD54-394750ED2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FE4ECA-6724-FC1B-647D-22BA060B5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9251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490C2-4E76-DE9F-87A3-D0D2EEB09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FFA344C-FF9E-8976-157C-65E92B15D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B77CB33-9C39-ADF9-1B0B-18DEC9D47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87CCAD-1739-23CB-ABFC-44175CD25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3338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3348E-ECA1-4FDC-D3E2-A5C29F7B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37AFC6-E894-59DB-3703-5E4ED7BAF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41637E-B9C9-D0E0-BD66-FD37E066F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255776-B5A3-5220-5142-63E5449F4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6254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19283-8C4B-5EBB-ACFA-D4296807D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1C86D69-7A33-81BC-03EB-9ED4CDF12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1BC4C4-8200-CF8E-D38C-8537ECD5D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09C602-255F-94DB-05C4-4FC5B8AA7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2970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FF71E-A432-0697-3E51-E598DA14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8DED37-E16E-884A-3FBA-06769A9A9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E919225-00D6-319B-C6BE-C61E8409D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640705-512C-6B94-9292-A9FCB3AF4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8083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8E18-67DB-97EF-5B18-B91A5E9D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55770C3-ABD8-08EA-D0C6-070E9E1E8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58A8330-0B7A-EC5E-4D40-763FC760B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94A9AF-7EE0-DEB7-73C8-20BC15E57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239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7EDD6-2D9F-86BD-AE80-B26B27F3C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E280B1-8F35-EDA7-B8E6-77897C3E7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68271A-44C6-0FDC-CED3-4E434FCB8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3B8283-5D97-52FA-3DE6-6B6BC9E16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36869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6259-BA81-FB46-B7BB-1EEB452B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7F43E9-90A7-EEBB-C86C-357DC4BAA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4DAF6E-CFA9-3FE4-6D89-5CE59A84D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76EB1B-0A3A-E9BE-51D1-01AE2A0DF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83762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B8DF5-A5C7-3A81-53D2-C65A6C1A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8AD3D7C-C5B5-FA75-A1E9-21CAE45ED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0E720EF-5207-20E1-4FD5-BD58D5D3D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EF7595-7492-BBA2-E852-95336BB25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2431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083E9-88F8-EED9-8F4B-11A9285E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D417ECB-1513-A0EB-FC1D-FD7762AFB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0E4328-699B-25B8-EB7A-BD00FE214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1B807E-DA0C-187D-0D31-4D75662F9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5877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23DED-2E00-685F-50CB-998C0D46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5A513BA-D05B-A125-D7C1-3CE871C7A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2329CA1-7B01-EA2A-2803-FEE8FBF1F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16EA38-742D-821A-95C0-9247D8A44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0205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1C1DF-9D6C-5A48-ECC5-275B1EF5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941D5D1-0A1A-FE0E-EF57-50DEDB044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279A92-CEAC-06D4-AF7B-6B7D47A4C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F18CF-59F6-9D54-972A-F70C768AC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9416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3FD5-B76C-2FD6-72E6-63B22B253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4700250-5697-0F62-B856-BBE0A5466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808C312-1752-8F2F-E986-632B9BC2E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2B7A3E-4F3F-73E1-31A2-BFFF00502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27059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406F-D87C-857F-FCB5-4AD4FEAA3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1256AD4-F636-2B98-780E-B0894EF0F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AC561FA-687A-9457-2EAF-518DCF9FF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C54187-8DAE-B46E-34B0-0A5CC5BBA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64482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BB39-504E-56A7-A9F4-8872F92A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A65741-DF0F-6319-4229-701D8B481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919045-C731-DEA4-810A-D0A0FC9C8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A64F5F-CBE0-AEF8-E15E-710A86CA3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67302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07C47-06A1-3507-9700-BCD5C71F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3D942B-2A88-2593-EA23-ECCBBADC2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7BA695B-D06A-2077-50E8-B8923A06F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7C321E-A480-243D-0261-19D212581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12845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1602-7B45-D2F7-9B70-C44EDD29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EC9D56A-1AB9-3DDC-B034-25190394B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9597C8-F5C1-119D-927A-F20D43654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DFB0E8-21CC-7C6E-43E3-6896B6E82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85398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2DD8C-1C66-FEF8-C1C3-7ED81355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39B75A6-3010-CFD0-B1E7-E55C6F559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D241C9-D852-4BDC-E404-711F9AAF1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596D00-78FA-7ECF-8578-78037666E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77434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1AE8-0AE8-5294-3A0D-11BC58217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6CCE8E-67A6-4741-824D-16ED2E2AC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C37E12-89F8-EBB7-4544-D1603B67F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258ADB-824D-9FB6-B668-E01EA34D3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45554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C97C-B948-03A0-C0E9-70EF431D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AAD737-356F-6082-768F-BD7CF94C9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87D2F02-7658-C162-9EFC-21B92949F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A9A0F7-5371-4E5A-5516-F56F3085B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30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15829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">
            <a:extLst>
              <a:ext uri="{FF2B5EF4-FFF2-40B4-BE49-F238E27FC236}">
                <a16:creationId xmlns:a16="http://schemas.microsoft.com/office/drawing/2014/main" id="{16D8D17C-92CC-D14D-4D30-D320724D3F7D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2143125" y="733425"/>
            <a:ext cx="2571750" cy="36210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197606F8-0A18-311F-2003-F6C7F5ACDD6F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587875"/>
            <a:ext cx="5486400" cy="4346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1">
            <a:extLst>
              <a:ext uri="{FF2B5EF4-FFF2-40B4-BE49-F238E27FC236}">
                <a16:creationId xmlns:a16="http://schemas.microsoft.com/office/drawing/2014/main" id="{5B2E7886-8050-83D8-B447-FA9BB5DF2976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2143125" y="733425"/>
            <a:ext cx="2571750" cy="36210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E7CF80C0-3295-B8D6-533D-E1283619025C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587875"/>
            <a:ext cx="5486400" cy="4346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1">
            <a:extLst>
              <a:ext uri="{FF2B5EF4-FFF2-40B4-BE49-F238E27FC236}">
                <a16:creationId xmlns:a16="http://schemas.microsoft.com/office/drawing/2014/main" id="{D80C931C-D588-A8BF-025A-E36656605834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2143125" y="733425"/>
            <a:ext cx="2571750" cy="36210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189DBD29-DD19-1F0A-B785-66FCADE1AC5C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587875"/>
            <a:ext cx="5486400" cy="4346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1">
            <a:extLst>
              <a:ext uri="{FF2B5EF4-FFF2-40B4-BE49-F238E27FC236}">
                <a16:creationId xmlns:a16="http://schemas.microsoft.com/office/drawing/2014/main" id="{055A2FB5-A0A5-7B30-7130-C975423F4BAF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2143125" y="733425"/>
            <a:ext cx="2571750" cy="36210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62C8F715-5E46-21EC-3F97-E514566E71EF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587875"/>
            <a:ext cx="5486400" cy="4346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1">
            <a:extLst>
              <a:ext uri="{FF2B5EF4-FFF2-40B4-BE49-F238E27FC236}">
                <a16:creationId xmlns:a16="http://schemas.microsoft.com/office/drawing/2014/main" id="{A0A83D59-FFD2-AEB3-5F4C-49E01F254910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2143125" y="733425"/>
            <a:ext cx="2571750" cy="36210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8D6DB68F-B0C9-8E4B-7DD2-061073BB9A03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587875"/>
            <a:ext cx="5486400" cy="4346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1">
            <a:extLst>
              <a:ext uri="{FF2B5EF4-FFF2-40B4-BE49-F238E27FC236}">
                <a16:creationId xmlns:a16="http://schemas.microsoft.com/office/drawing/2014/main" id="{09D99B0E-903D-22D9-F31A-F48219356832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2143125" y="733425"/>
            <a:ext cx="2571750" cy="36210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5836F794-250A-953E-1A6C-6F2A2180DA47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587875"/>
            <a:ext cx="5486400" cy="4346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1">
            <a:extLst>
              <a:ext uri="{FF2B5EF4-FFF2-40B4-BE49-F238E27FC236}">
                <a16:creationId xmlns:a16="http://schemas.microsoft.com/office/drawing/2014/main" id="{9AF763B3-638F-162E-773F-A46333B6D917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2143125" y="733425"/>
            <a:ext cx="2571750" cy="36210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1513147D-FA66-2668-FF69-F94DE79114B8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587875"/>
            <a:ext cx="5486400" cy="4346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5ABE-1751-A313-A279-3692E844E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21D1C0-7D1C-23E6-5266-2E660DDA3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39B225-FE75-9B33-A332-0DBF2B3F7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9E440F-46F5-5C0B-8AAC-0A29847B2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38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01570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39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31421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88252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99047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90236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97980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25946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33138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35583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99545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479166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49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87775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50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77490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51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69321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289C57-55D7-40A4-A101-E74FAC7A092B}" type="slidenum">
              <a:rPr lang="pt-BR" smtClean="0"/>
              <a:t>52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2792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lang="pt-BR" sz="3600" spc="150" baseline="0"/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buNone/>
              <a:defRPr lang="pt-BR" sz="16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en-US"/>
              <a:t>Click to edit Master subtitle style</a:t>
            </a:r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pt-BR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buNone/>
              <a:defRPr lang="pt-BR"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lang="pt-BR"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lang="pt-BR"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lang="pt-BR"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lang="pt-BR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pt-BR"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lang="pt-BR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pt-BR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11EBF9-6826-475B-8079-C1112899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B726A3-DF54-47D2-8C3A-34FD43A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7A1CF8B-3479-49A3-A30E-2F2ECE962075}"/>
              </a:ext>
            </a:extLst>
          </p:cNvPr>
          <p:cNvGrpSpPr/>
          <p:nvPr userDrawn="1"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49FBD260-5143-4B12-B9F8-33E48D548909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/>
            <p:nvPr userDrawn="1"/>
          </p:nvCxnSpPr>
          <p:spPr>
            <a:xfrm flipH="1">
              <a:off x="6953250" y="-25401"/>
              <a:ext cx="3790950" cy="690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ebra de seçã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148840"/>
            <a:ext cx="4179570" cy="1715531"/>
          </a:xfrm>
        </p:spPr>
        <p:txBody>
          <a:bodyPr rtlCol="0" anchor="b">
            <a:noAutofit/>
          </a:bodyPr>
          <a:lstStyle>
            <a:lvl1pPr algn="l">
              <a:defRPr lang="pt-B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 rtlCol="0">
            <a:normAutofit/>
          </a:bodyPr>
          <a:lstStyle>
            <a:lvl1pPr marL="0" indent="0" algn="l">
              <a:buNone/>
              <a:defRPr lang="pt-BR" sz="1600">
                <a:solidFill>
                  <a:schemeClr val="bg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en-US"/>
              <a:t>Click to edit Master subtitle style</a:t>
            </a:r>
            <a:endParaRPr lang="pt-BR"/>
          </a:p>
        </p:txBody>
      </p:sp>
      <p:pic>
        <p:nvPicPr>
          <p:cNvPr id="5" name="Elemento 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7" name="Espaço Reservado para o Gráfico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en-US"/>
              <a:t>Click icon to add chart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8" name="Espaço Reservado para Tabela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en-US"/>
              <a:t>Click icon to add table</a:t>
            </a:r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rtlCol="0" anchor="b">
            <a:normAutofit/>
          </a:bodyPr>
          <a:lstStyle>
            <a:lvl1pPr marL="0" indent="0" algn="l">
              <a:buNone/>
              <a:defRPr lang="pt-BR"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defPPr>
              <a:defRPr lang="pt-BR"/>
            </a:defPPr>
          </a:lstStyle>
          <a:p>
            <a:pPr lvl="1"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ssoas da Equipe do 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lang="pt-BR" sz="900"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900"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32" name="Espaço Reservado para Imagem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900"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900"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900"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900"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33" name="Espaço Reservado para Imagem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900"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900"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pt-BR" dirty="0"/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pt-BR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pt-BR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pt-BR"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pt-BR"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 sz="900">
                <a:solidFill>
                  <a:srgbClr val="898989"/>
                </a:solidFill>
              </a:defRPr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en-US"/>
              <a:t>Click icon to add SmartArt graphic</a:t>
            </a:r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r>
              <a:rPr lang="pt-BR" dirty="0"/>
              <a:t>Livre Arbítrio, Liberdade e Autoconhecimento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 dirty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lang="pt-BR" sz="2000"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lang="pt-BR" sz="2000"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lang="pt-BR" sz="2000"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lang="pt-BR" sz="2000"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1400" spc="50" baseline="0"/>
            </a:lvl1pPr>
          </a:lstStyle>
          <a:p>
            <a:pPr lvl="0" rtl="0"/>
            <a:r>
              <a:rPr lang="pt-BR" noProof="0" dirty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1400" spc="50" baseline="0"/>
            </a:lvl1pPr>
          </a:lstStyle>
          <a:p>
            <a:pPr lvl="0" rtl="0"/>
            <a:r>
              <a:rPr lang="pt-BR" noProof="0" dirty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1400" spc="50" baseline="0"/>
            </a:lvl1pPr>
          </a:lstStyle>
          <a:p>
            <a:pPr lvl="0" rtl="0"/>
            <a:r>
              <a:rPr lang="pt-BR" noProof="0" dirty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1400" spc="50" baseline="0"/>
            </a:lvl1pPr>
          </a:lstStyle>
          <a:p>
            <a:pPr lvl="0" rtl="0"/>
            <a:r>
              <a:rPr lang="pt-BR" noProof="0" dirty="0"/>
              <a:t>Clique para editar os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pt-BR"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 dirty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 noProof="0" dirty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noProof="0" smtClean="0"/>
              <a:pPr rtl="0"/>
              <a:t>‹#›</a:t>
            </a:fld>
            <a:endParaRPr lang="pt-BR" noProof="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ois conteú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pt-BR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pt-BR" sz="1400" spc="50" baseline="0"/>
            </a:lvl1pPr>
            <a:lvl2pPr marL="457200" indent="0">
              <a:lnSpc>
                <a:spcPct val="100000"/>
              </a:lnSpc>
              <a:buNone/>
              <a:defRPr lang="pt-BR" sz="1400" spc="50" baseline="0"/>
            </a:lvl2pPr>
            <a:lvl3pPr marL="914400" indent="0">
              <a:lnSpc>
                <a:spcPct val="100000"/>
              </a:lnSpc>
              <a:buNone/>
              <a:defRPr lang="pt-BR" sz="1400" spc="50" baseline="0"/>
            </a:lvl3pPr>
            <a:lvl4pPr marL="1371600" indent="0">
              <a:lnSpc>
                <a:spcPct val="100000"/>
              </a:lnSpc>
              <a:buNone/>
              <a:defRPr lang="pt-BR" sz="1400" spc="50" baseline="0"/>
            </a:lvl4pPr>
            <a:lvl5pPr marL="1828800" indent="0">
              <a:lnSpc>
                <a:spcPct val="100000"/>
              </a:lnSpc>
              <a:buNone/>
              <a:defRPr lang="pt-BR" sz="1400" spc="5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pt-BR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pt-BR" sz="1400" spc="50" baseline="0"/>
            </a:lvl1pPr>
            <a:lvl2pPr marL="457200" indent="0">
              <a:lnSpc>
                <a:spcPct val="100000"/>
              </a:lnSpc>
              <a:buNone/>
              <a:defRPr lang="pt-BR" sz="1400" spc="50" baseline="0"/>
            </a:lvl2pPr>
            <a:lvl3pPr marL="914400" indent="0">
              <a:lnSpc>
                <a:spcPct val="100000"/>
              </a:lnSpc>
              <a:buNone/>
              <a:defRPr lang="pt-BR" sz="1400" spc="50" baseline="0"/>
            </a:lvl3pPr>
            <a:lvl4pPr marL="1371600" indent="0">
              <a:lnSpc>
                <a:spcPct val="100000"/>
              </a:lnSpc>
              <a:buNone/>
              <a:defRPr lang="pt-BR" sz="1400" spc="50" baseline="0"/>
            </a:lvl4pPr>
            <a:lvl5pPr marL="1828800" indent="0">
              <a:lnSpc>
                <a:spcPct val="100000"/>
              </a:lnSpc>
              <a:buNone/>
              <a:defRPr lang="pt-BR" sz="1400" spc="5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s Partes de Conteú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pt-BR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pt-BR" sz="1400" spc="50" baseline="0"/>
            </a:lvl1pPr>
            <a:lvl2pPr marL="457200" indent="0">
              <a:lnSpc>
                <a:spcPct val="100000"/>
              </a:lnSpc>
              <a:buNone/>
              <a:defRPr lang="pt-BR" sz="1400" spc="50" baseline="0"/>
            </a:lvl2pPr>
            <a:lvl3pPr marL="914400" indent="0">
              <a:lnSpc>
                <a:spcPct val="100000"/>
              </a:lnSpc>
              <a:buNone/>
              <a:defRPr lang="pt-BR" sz="1400" spc="50" baseline="0"/>
            </a:lvl3pPr>
            <a:lvl4pPr marL="1371600" indent="0">
              <a:lnSpc>
                <a:spcPct val="100000"/>
              </a:lnSpc>
              <a:buNone/>
              <a:defRPr lang="pt-BR" sz="1400" spc="50" baseline="0"/>
            </a:lvl4pPr>
            <a:lvl5pPr marL="1828800" indent="0">
              <a:lnSpc>
                <a:spcPct val="100000"/>
              </a:lnSpc>
              <a:buNone/>
              <a:defRPr lang="pt-BR" sz="1400" spc="5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pt-BR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pt-BR" sz="1400" spc="50" baseline="0"/>
            </a:lvl1pPr>
            <a:lvl2pPr marL="457200" indent="0">
              <a:lnSpc>
                <a:spcPct val="100000"/>
              </a:lnSpc>
              <a:buNone/>
              <a:defRPr lang="pt-BR" sz="1400" spc="50" baseline="0"/>
            </a:lvl2pPr>
            <a:lvl3pPr marL="914400" indent="0">
              <a:lnSpc>
                <a:spcPct val="100000"/>
              </a:lnSpc>
              <a:buNone/>
              <a:defRPr lang="pt-BR" sz="1400" spc="50" baseline="0"/>
            </a:lvl3pPr>
            <a:lvl4pPr marL="1371600" indent="0">
              <a:lnSpc>
                <a:spcPct val="100000"/>
              </a:lnSpc>
              <a:buNone/>
              <a:defRPr lang="pt-BR" sz="1400" spc="50" baseline="0"/>
            </a:lvl4pPr>
            <a:lvl5pPr marL="1828800" indent="0">
              <a:lnSpc>
                <a:spcPct val="100000"/>
              </a:lnSpc>
              <a:buNone/>
              <a:defRPr lang="pt-BR" sz="1400" spc="5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BR"/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pt-BR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pt-BR" sz="1400" spc="50" baseline="0"/>
            </a:lvl1pPr>
            <a:lvl2pPr marL="457200" indent="0">
              <a:lnSpc>
                <a:spcPct val="100000"/>
              </a:lnSpc>
              <a:buNone/>
              <a:defRPr lang="pt-BR" sz="1400" spc="50" baseline="0"/>
            </a:lvl2pPr>
            <a:lvl3pPr marL="914400" indent="0">
              <a:lnSpc>
                <a:spcPct val="100000"/>
              </a:lnSpc>
              <a:buNone/>
              <a:defRPr lang="pt-BR" sz="1400" spc="50" baseline="0"/>
            </a:lvl3pPr>
            <a:lvl4pPr marL="1371600" indent="0">
              <a:lnSpc>
                <a:spcPct val="100000"/>
              </a:lnSpc>
              <a:buNone/>
              <a:defRPr lang="pt-BR" sz="1400" spc="50" baseline="0"/>
            </a:lvl4pPr>
            <a:lvl5pPr marL="1828800" indent="0">
              <a:lnSpc>
                <a:spcPct val="100000"/>
              </a:lnSpc>
              <a:buNone/>
              <a:defRPr lang="pt-BR" sz="1400" spc="5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pt-BR"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lang="pt-BR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pt-BR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74AA03A-263D-4B5F-B05B-7D6923A9A4D3}"/>
              </a:ext>
            </a:extLst>
          </p:cNvPr>
          <p:cNvGrpSpPr/>
          <p:nvPr userDrawn="1"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A768C87F-B9C3-4DFF-8454-F3F52CE4346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pt-B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DO TÍTULO PRINCIPAL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pt-BR"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en-US"/>
              <a:t>Click to edit Master subtitle style</a:t>
            </a:r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9DFD55-3C28-40EF-9E31-A92D2E4017FF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66" r:id="rId5"/>
    <p:sldLayoutId id="2147483667" r:id="rId6"/>
    <p:sldLayoutId id="2147483654" r:id="rId7"/>
    <p:sldLayoutId id="2147483663" r:id="rId8"/>
    <p:sldLayoutId id="2147483662" r:id="rId9"/>
    <p:sldLayoutId id="2147483668" r:id="rId10"/>
    <p:sldLayoutId id="2147483652" r:id="rId11"/>
    <p:sldLayoutId id="2147483653" r:id="rId12"/>
    <p:sldLayoutId id="2147483660" r:id="rId13"/>
    <p:sldLayoutId id="2147483664" r:id="rId14"/>
    <p:sldLayoutId id="214748366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10" Type="http://schemas.openxmlformats.org/officeDocument/2006/relationships/image" Target="../media/image28.jpg"/><Relationship Id="rId4" Type="http://schemas.openxmlformats.org/officeDocument/2006/relationships/image" Target="../media/image22.jpg"/><Relationship Id="rId9" Type="http://schemas.openxmlformats.org/officeDocument/2006/relationships/image" Target="../media/image27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3394" y="4434840"/>
            <a:ext cx="6324417" cy="112220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36A1B4-B8D1-4A72-8E20-0703F54BF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3394" y="5586890"/>
            <a:ext cx="6324417" cy="39666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Gabriel Mendonça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E44B-CF7B-7249-F29E-453877E85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719D8-16B6-C4EB-171A-AF7F12E0B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Lei de Liberdade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54E60D-7ED2-170F-AFF6-F5A6BB95A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825.</a:t>
            </a:r>
            <a:r>
              <a:rPr lang="pt-BR" i="1" dirty="0"/>
              <a:t> Haverá no mundo posições em que o homem possa jactar-se de gozar de absoluta liberdade?</a:t>
            </a:r>
            <a:endParaRPr lang="pt-BR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B01969-B7C3-6BDC-DBD6-1A3F1C69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F6A88E3-29AA-AEA0-83C8-85914E05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008A81AE-4C49-ABFE-1645-FF1409C6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953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CBF4C-2441-DC78-EBDB-8E02E83B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F209D-0C51-870F-A12B-E50986CB6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Lei de Liberdade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ACD80F-3A2B-ACF5-55C5-9735D15FB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825.</a:t>
            </a:r>
            <a:r>
              <a:rPr lang="pt-BR" i="1" dirty="0"/>
              <a:t> Haverá no mundo posições em que o homem possa jactar-se de gozar de absoluta liberdade?</a:t>
            </a:r>
            <a:endParaRPr lang="pt-BR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42C1644-7F95-2C1A-929E-D48BDA62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07024B-944F-E64C-8638-1AED066C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8F7043BA-ED95-FC0B-8783-26735DCE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3</a:t>
            </a:fld>
            <a:endParaRPr lang="pt-B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B63F028-DAE1-0452-4A5E-1F1429EAF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944716"/>
            <a:ext cx="3943627" cy="823912"/>
          </a:xfrm>
        </p:spPr>
        <p:txBody>
          <a:bodyPr/>
          <a:lstStyle/>
          <a:p>
            <a:r>
              <a:rPr lang="pt-BR" dirty="0"/>
              <a:t>826. </a:t>
            </a:r>
            <a:r>
              <a:rPr lang="pt-BR" i="1" dirty="0"/>
              <a:t>Em que condições poderia o homem gozar de absoluta liberdade?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944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F25C1-EAFC-739D-F746-9C4BF107B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69443-562A-D6CC-271C-F502406F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Lei de Liberdade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6F373B-59AA-0382-E07A-5C3760FB2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825.</a:t>
            </a:r>
            <a:r>
              <a:rPr lang="pt-BR" i="1" dirty="0"/>
              <a:t> Haverá no mundo posições em que o homem possa jactar-se de gozar de absoluta liberdade?</a:t>
            </a:r>
            <a:endParaRPr lang="pt-BR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AB0A48-E6ED-5A0A-6C46-862EC6E5D3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C5B775C-3FF4-B0DD-7FF5-7A047BD4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DA156D5-44B7-96F8-A098-F14426CA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4</a:t>
            </a:fld>
            <a:endParaRPr lang="pt-B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7FA3D55-4A9B-C07F-F78E-78B3C822A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944716"/>
            <a:ext cx="3943627" cy="823912"/>
          </a:xfrm>
        </p:spPr>
        <p:txBody>
          <a:bodyPr/>
          <a:lstStyle/>
          <a:p>
            <a:r>
              <a:rPr lang="pt-BR" dirty="0"/>
              <a:t>826. </a:t>
            </a:r>
            <a:r>
              <a:rPr lang="pt-BR" i="1" dirty="0"/>
              <a:t>Em que condições poderia o homem gozar de absoluta liberdade?</a:t>
            </a:r>
            <a:endParaRPr lang="pt-BR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BCDFA59F-43C0-AE65-4736-B3078D964220}"/>
              </a:ext>
            </a:extLst>
          </p:cNvPr>
          <p:cNvSpPr txBox="1">
            <a:spLocks/>
          </p:cNvSpPr>
          <p:nvPr/>
        </p:nvSpPr>
        <p:spPr>
          <a:xfrm>
            <a:off x="2933700" y="4043494"/>
            <a:ext cx="3943627" cy="11739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829. </a:t>
            </a:r>
            <a:r>
              <a:rPr lang="pt-BR" i="1" dirty="0"/>
              <a:t>Haverá homens que estejam, por natureza, destinados a ser propriedade de outros homens?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320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ED702-C677-5660-2836-04B30990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06C48-247D-4B93-DD65-11DEA6BC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Lei de Liberdade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C7F411-39F5-AB16-BAAD-BADD35C26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825.</a:t>
            </a:r>
            <a:r>
              <a:rPr lang="pt-BR" i="1" dirty="0"/>
              <a:t> Haverá no mundo posições em que o homem possa jactar-se de gozar de absoluta liberdade?</a:t>
            </a:r>
            <a:endParaRPr lang="pt-BR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414B3BD-8EB5-44B6-38A1-46DB4DD8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739E33E-8053-2FB4-1380-07DA2A0B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AB113AB-1B1E-2DF8-6F72-35C7BA48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5</a:t>
            </a:fld>
            <a:endParaRPr lang="pt-B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334F09E-739C-17AC-8D63-56C63D6E4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944716"/>
            <a:ext cx="3943627" cy="823912"/>
          </a:xfrm>
        </p:spPr>
        <p:txBody>
          <a:bodyPr/>
          <a:lstStyle/>
          <a:p>
            <a:r>
              <a:rPr lang="pt-BR" dirty="0"/>
              <a:t>826. </a:t>
            </a:r>
            <a:r>
              <a:rPr lang="pt-BR" i="1" dirty="0"/>
              <a:t>Em que condições poderia o homem gozar de absoluta liberdade?</a:t>
            </a:r>
            <a:endParaRPr lang="pt-BR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709E192-FAD9-03FD-7ACD-392A6595F495}"/>
              </a:ext>
            </a:extLst>
          </p:cNvPr>
          <p:cNvSpPr txBox="1">
            <a:spLocks/>
          </p:cNvSpPr>
          <p:nvPr/>
        </p:nvSpPr>
        <p:spPr>
          <a:xfrm>
            <a:off x="2933700" y="4043494"/>
            <a:ext cx="3943627" cy="11739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829. </a:t>
            </a:r>
            <a:r>
              <a:rPr lang="pt-BR" i="1" dirty="0"/>
              <a:t>Haverá homens que estejam, por natureza, destinados a ser propriedade de outros homens?</a:t>
            </a:r>
            <a:endParaRPr lang="pt-BR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7AD972CF-7EAC-354A-E7F5-A4730F2118F1}"/>
              </a:ext>
            </a:extLst>
          </p:cNvPr>
          <p:cNvSpPr txBox="1">
            <a:spLocks/>
          </p:cNvSpPr>
          <p:nvPr/>
        </p:nvSpPr>
        <p:spPr>
          <a:xfrm>
            <a:off x="7410172" y="4315688"/>
            <a:ext cx="3943627" cy="14936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833. </a:t>
            </a:r>
            <a:r>
              <a:rPr lang="pt-BR" i="1" dirty="0"/>
              <a:t>Haverá no homem alguma coisa que escape a todo constrangimento e pela qual goze ele de absoluta liberdade?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340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8CD584-1901-BFEE-DDC5-89A64C524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4328F-1409-1270-3467-52E6C850A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020" y="2148840"/>
            <a:ext cx="5958980" cy="171553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Lei de Liberdade</a:t>
            </a:r>
            <a:endParaRPr lang="pt-BR" spc="5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A672ED-6C04-9D81-3D6B-1C84E72D0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5299" y="3962003"/>
            <a:ext cx="4845621" cy="36512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i="1" dirty="0"/>
              <a:t>O Livro dos Espíritos</a:t>
            </a:r>
            <a:r>
              <a:rPr lang="pt-BR" dirty="0"/>
              <a:t>, cap. X – Allan Kardec</a:t>
            </a:r>
          </a:p>
        </p:txBody>
      </p:sp>
    </p:spTree>
    <p:extLst>
      <p:ext uri="{BB962C8B-B14F-4D97-AF65-F5344CB8AC3E}">
        <p14:creationId xmlns:p14="http://schemas.microsoft.com/office/powerpoint/2010/main" val="167592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AA20-5DEB-6C77-DCEC-D5D38A205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17E25-6B43-B9C2-149A-BE82DA99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Lei de Liberdade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53EA35-9505-3EB7-9FAC-32BEA6843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2800" dirty="0"/>
              <a:t>825. </a:t>
            </a:r>
            <a:r>
              <a:rPr lang="pt-BR" sz="2800" i="1" dirty="0"/>
              <a:t>Haverá no mundo posições em que o homem possa jactar-se de gozar de absoluta liberdade?</a:t>
            </a:r>
          </a:p>
          <a:p>
            <a:pPr defTabSz="540000" rtl="0"/>
            <a:r>
              <a:rPr lang="pt-BR" sz="2800" dirty="0"/>
              <a:t>“Não, porque todos precisais uns dos outros, assim os pequenos como os grandes.”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05AE01-C071-AD52-BEEA-E38D65F72B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21B054-07CF-DE37-CA89-E1BD3336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E349838-9BB4-94B3-36BE-B7FA3D2BC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2143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583CD-8E14-E8A7-1EE6-780469D58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5F180-B3DF-BE93-F637-A1452671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Lei de Liberdade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099BF7-D331-3A8C-80EC-7CCBC1A3B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2800" dirty="0"/>
              <a:t> 826. </a:t>
            </a:r>
            <a:r>
              <a:rPr lang="pt-BR" sz="2800" i="1" dirty="0"/>
              <a:t>Em que condições poderia o homem gozar de absoluta liberdade?</a:t>
            </a:r>
          </a:p>
          <a:p>
            <a:pPr defTabSz="540000" rtl="0"/>
            <a:r>
              <a:rPr lang="pt-BR" sz="2800" dirty="0"/>
              <a:t>“Nas do eremita no deserto. Desde que juntos estejam dois homens, há entre eles direitos recíprocos que lhes cumpre respeitar; não mais, portanto, qualquer deles goza de liberdade absoluta.”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9866D9-03AF-750B-A437-EF8A3B640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7E7090-4CC8-69A8-3094-68026EF9A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A1E682E-2563-8075-5422-03EE922D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9689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C5295-C724-D6C4-FD8A-B99671C0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5FF5E-3548-F840-CE6D-1F96AE342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Lei de Liberdade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D0CECC-298F-BFB8-9380-100751101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2400" dirty="0"/>
              <a:t>829. </a:t>
            </a:r>
            <a:r>
              <a:rPr lang="pt-BR" sz="2400" i="1" dirty="0"/>
              <a:t>Haverá homens que estejam, por natureza, destinados a ser propriedade de outros homens?</a:t>
            </a:r>
          </a:p>
          <a:p>
            <a:pPr defTabSz="540000" rtl="0"/>
            <a:r>
              <a:rPr lang="pt-BR" sz="2400" dirty="0"/>
              <a:t> “É contrária à lei de Deus toda sujeição absoluta de um homem a outro homem. A escravidão é um abuso da força. Desaparece com o progresso, como gradativamente desaparecerão todos os abusos.”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ACBB4A-639C-24FD-DE1F-489AB213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0F6BDA-1C26-E689-135D-B850C80E0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88DCC4B-2940-3C9A-BBE7-91721820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2036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AED6E-C8C3-2F70-68BB-9BD89DBAB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3C8FA-565E-AEFD-89E4-CEC0959B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24" y="2809875"/>
            <a:ext cx="6696075" cy="19097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“833. Haverá no homem alguma coisa que escape a todo constrangimento e pela qual goze ele de absoluta liberdade?”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F9EE78-6F82-31B1-9EF6-C9BE61D8B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Livro dos Espíritos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5BC092-6421-BBC1-E2A1-900F3CB4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804983-FCBA-C520-7A88-2BA1632BE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F369D87-9E46-A6FE-4ABA-FD119D73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8963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C5514-0AF7-F465-909E-5CA6DA357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9A96F-F590-D023-E2E7-40A38230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24" y="2809875"/>
            <a:ext cx="6696075" cy="1909763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“No pensamento goza o homem de ilimitada liberdade, pois que não admite barreiras. Pode-se deter-lhe o ímpeto, porém, não aniquilá-lo.”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2C7BD7-88C1-8575-00B7-71038C53F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Livro dos Espíritos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802AE7-95F8-C58A-C014-41ECDD24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1A814D-48F2-F6AC-AD12-FDD60263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6CC419B-277E-A9C2-EB14-D6B8665A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1759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1DA2-10AD-8ED0-822B-6F819D45D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21054-F065-87A9-6D30-38F19534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24" y="2809875"/>
            <a:ext cx="6696075" cy="1909763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“834. </a:t>
            </a:r>
            <a:r>
              <a:rPr lang="pt-BR" i="1" dirty="0"/>
              <a:t>É responsável o homem pelo seu pensamento?”</a:t>
            </a:r>
            <a:br>
              <a:rPr lang="pt-BR" i="1" dirty="0"/>
            </a:br>
            <a:br>
              <a:rPr lang="pt-BR" i="1" dirty="0"/>
            </a:br>
            <a:r>
              <a:rPr lang="pt-BR" dirty="0"/>
              <a:t>“Perante Deus, é. Somente a Deus sendo possível conhecê-lo, ele o condena ou absolve, segundo a sua justiça.”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796F9A-218A-A9B7-45FF-15E0CA0D8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Livro dos Espíritos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9C8463-301F-A6B3-81BA-C9E90D5A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1762C3-25FD-E59C-05BC-BB7D1673C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C72EA6C-07C5-F8D9-7E07-19CFEFED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7354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1C1-8075-9F43-37EF-6D2268E2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59A63-F4FF-41D7-22E2-A6700C7E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24" y="2097249"/>
            <a:ext cx="6696075" cy="2622390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843. </a:t>
            </a:r>
            <a:r>
              <a:rPr lang="pt-BR" i="1" dirty="0"/>
              <a:t>Tem o homem o livre-arbítrio de seus atos?</a:t>
            </a:r>
            <a:br>
              <a:rPr lang="pt-BR" i="1" dirty="0"/>
            </a:br>
            <a:br>
              <a:rPr lang="pt-BR" i="1" dirty="0"/>
            </a:br>
            <a:r>
              <a:rPr lang="pt-BR" dirty="0"/>
              <a:t>“Pois que tem a liberdade de pensar, tem igualmente a de obrar. Sem o livre-arbítrio, o homem seria máquina.”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D00FD4-CAFD-AB27-AE27-047739310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Livro dos Espíritos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507B3A-5F5A-D1EE-E7F2-CCA228413E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0B7720-7145-FB3D-9B31-CE3ABC03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41A9D1A-D47B-F886-53C7-EC2133CD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6755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042D-A422-34AB-CF83-67A4686B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0BAE2-7075-8A3A-DE88-04DD4046B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020" y="2148840"/>
            <a:ext cx="5958980" cy="171553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Livres, mas responsáveis</a:t>
            </a:r>
            <a:endParaRPr lang="pt-BR" spc="5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41FD46-1D8C-E7DA-8740-F29E488BE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5299" y="3962003"/>
            <a:ext cx="4845621" cy="365125"/>
          </a:xfrm>
        </p:spPr>
        <p:txBody>
          <a:bodyPr rtlCol="0">
            <a:normAutofit fontScale="85000" lnSpcReduction="1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Livro </a:t>
            </a:r>
            <a:r>
              <a:rPr lang="pt-BR" i="1" dirty="0"/>
              <a:t>Encontro marcado, </a:t>
            </a:r>
            <a:r>
              <a:rPr lang="pt-BR" dirty="0"/>
              <a:t>cap 53 – Emmanuel / Chico Xavier</a:t>
            </a:r>
          </a:p>
        </p:txBody>
      </p:sp>
    </p:spTree>
    <p:extLst>
      <p:ext uri="{BB962C8B-B14F-4D97-AF65-F5344CB8AC3E}">
        <p14:creationId xmlns:p14="http://schemas.microsoft.com/office/powerpoint/2010/main" val="3163653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801C-B46C-AB45-08E0-AB9E8E53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AE5AE-7BEE-ADF1-D4E6-ED172119F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Livres, mas responsáveis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98C303-9E7B-9FA8-0BCE-EBF0F80D0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 lnSpcReduction="10000"/>
          </a:bodyPr>
          <a:lstStyle>
            <a:defPPr>
              <a:defRPr lang="pt-BR"/>
            </a:defPPr>
          </a:lstStyle>
          <a:p>
            <a:pPr defTabSz="540000" rtl="0"/>
            <a:r>
              <a:rPr lang="pt-BR" sz="2800" dirty="0"/>
              <a:t>	A quem nos pergunte se a criatura humana é livre, respondamos afirmativamente.</a:t>
            </a:r>
          </a:p>
          <a:p>
            <a:pPr defTabSz="540000" rtl="0"/>
            <a:r>
              <a:rPr lang="pt-BR" sz="2800" dirty="0"/>
              <a:t>	Acrescentemos, porém, que o homem é livre, mas responsável, e pode realizar o que deseje, mas estará ligado inevitavelmente ao fruto de suas próprias ações.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620D1B-4DDD-92A1-4FBB-19A8936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0AF502-8491-D9B9-A308-315BD683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637E204-5A46-3D5A-9B4F-476FC550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3712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F915-999C-BD8A-7CA7-7A31FD11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CBB9D-55BD-8DC1-136D-1BBD566F1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Livres, mas responsáveis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2E3FA7-D8C3-FFB0-2BB6-481D6EADC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2000" dirty="0"/>
              <a:t>	</a:t>
            </a:r>
            <a:r>
              <a:rPr lang="pt-BR" sz="2800" dirty="0"/>
              <a:t>Para esclarecer o assunto, tanto quanto possível, examinemos, em resumo, alguns dos setores de sementeira e colheita ou, melhor, de livre-arbítrio e destino em que o espírito encarnado transita no mundo.</a:t>
            </a:r>
            <a:endParaRPr lang="pt-BR" sz="20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E4F280-F1EF-7CC7-5EAD-134B614C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C95696-FF00-6C8D-3B1B-2A1DF535C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578CD06-479E-A866-1FB6-259D5CE81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4154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1167-1391-86D0-6ABC-A40FEE258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7A263-A783-25F0-269C-F8D934DF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Livres, mas responsáveis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4BEA56-0B06-E80A-4F04-D5AC72D11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 fontScale="77500" lnSpcReduction="20000"/>
          </a:bodyPr>
          <a:lstStyle>
            <a:defPPr>
              <a:defRPr lang="pt-BR"/>
            </a:defPPr>
          </a:lstStyle>
          <a:p>
            <a:pPr defTabSz="540000" rtl="0"/>
            <a:r>
              <a:rPr lang="pt-BR" sz="2800" dirty="0"/>
              <a:t>POSSE. — O homem é livre para reter quaisquer posses que as legislações terrestres lhe facultem, de acordo com a sua diligência na ação ou seu direito transitório, e será considerado mordomo respeitável pelas forças superiores da vida se as utiliza a benefício de todos, mas, se abusa delas, criando a penúria dos semelhantes, de modo a favorecer os próprios excessos, encontrará nas consequências disso a fieira de provações com que aprenderá a acender em si mesmo a luz da abnegação.</a:t>
            </a:r>
            <a:endParaRPr lang="pt-BR" sz="20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A4084-55A0-68EE-2A05-4E0D7CDE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0ABA4D-BD92-9AFF-8D31-DA381346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A618D9E-D5C9-2CC0-F3AD-19FAD8E3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7497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27D86-42DC-D0C3-7963-AEFB1A44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B8101-F6D3-1FEC-442A-16148022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Livres, mas responsáveis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2FD57A-DF9F-048A-56DA-C065A8ACC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 fontScale="70000" lnSpcReduction="20000"/>
          </a:bodyPr>
          <a:lstStyle>
            <a:defPPr>
              <a:defRPr lang="pt-BR"/>
            </a:defPPr>
          </a:lstStyle>
          <a:p>
            <a:pPr defTabSz="540000" rtl="0"/>
            <a:r>
              <a:rPr lang="pt-BR" sz="3600" dirty="0"/>
              <a:t>NEGÓCIO. — O homem é livre para efetuar as transações que lhe apraza e granjeará o título de benfeitor, se procura comerciar com real proveito da clientela que lhe é própria, mas, se arrasa a economia dos outros com o fim de auferir lucros desnecessários, com prejuízo evidente do próximo, encontrará nas consequências disso a fieira de provações com que aprenderá a acender em si mesmo a luz da retidão.</a:t>
            </a:r>
            <a:endParaRPr lang="pt-BR" sz="20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0D045C-FA93-386A-4B15-7AA2D7A7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78B82C-6F27-A914-6761-18602BAA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A46E498-F1C9-5A2A-248D-348DCDBD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0492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3A8CB-FF00-25A7-78BE-36553082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9C7D0-3715-46BA-FC7F-DCBAB177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Livres, mas responsáveis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26683F-68BB-4D5E-D401-982E92107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 fontScale="55000" lnSpcReduction="20000"/>
          </a:bodyPr>
          <a:lstStyle>
            <a:defPPr>
              <a:defRPr lang="pt-BR"/>
            </a:defPPr>
          </a:lstStyle>
          <a:p>
            <a:pPr defTabSz="540000" rtl="0"/>
            <a:r>
              <a:rPr lang="pt-BR" sz="4400" dirty="0"/>
              <a:t>SEXO. — O homem é livre para dar às suas energias e impulsos sexuais a direção que prefira e será estimado por veículo de bênçãos quando os emprega na proteção sadia do lar, na formação da família, seja na paternidade ou na maternidade com o dever cumprido, ou, ainda, na sustentação das obras de arte e cultura, benemerência e elevação do Espírito;</a:t>
            </a:r>
            <a:endParaRPr lang="pt-BR" sz="20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5DAECA-62C6-83A6-06CC-50CCA2BE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C084E3-65DF-67F7-83C6-F0EAF2E6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03C3AD4-A2B7-97EE-3A6F-648CF513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4195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B606-3B52-9736-487B-10D0FBDB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8C4BC-89BD-7ABA-5B1E-B59483E2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Livres, mas responsáveis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4E3D1F-6E02-B52D-BF05-293588DD9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 fontScale="55000" lnSpcReduction="20000"/>
          </a:bodyPr>
          <a:lstStyle>
            <a:defPPr>
              <a:defRPr lang="pt-BR"/>
            </a:defPPr>
          </a:lstStyle>
          <a:p>
            <a:pPr defTabSz="540000" rtl="0"/>
            <a:r>
              <a:rPr lang="pt-BR" sz="4400" dirty="0"/>
              <a:t>SEXO. — (cont.) mas, se para lisonjear os próprios sentidos transforma os recursos genésicos em dor e desequilíbrio, angústia ou desesperação para os semelhantes, pela injúria aos sentimentos alheios ou pela deslealdade e desrespeito nos compromissos e ajustes afetivos, depois de havê-los proposto ou aceitado, encontrará nas consequências disso a fieira de provações com que aprenderá a acender em si mesmo a luz do amor puro.</a:t>
            </a:r>
            <a:endParaRPr lang="pt-BR" sz="20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45043D-7C2A-390C-4817-E84D0210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94D780-9EF8-1A1A-7FDB-1A26D0D5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8C0BDD1-146E-908C-9FDA-88F1140E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8306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86479-923F-99DA-A14D-D80EAE08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23083-9016-B1DC-3A34-D6132DE86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Livres, mas responsáveis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843A4D-FF95-3F90-1393-5574B5833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2800" dirty="0"/>
              <a:t>	O homem é livre até mesmo para receber ou recusar a existência, mas recolherá invariavelmente os bens ou os males que decorram de sua atitude, perante as concessões da Bondade Divina.</a:t>
            </a:r>
            <a:endParaRPr lang="pt-BR" sz="11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CD132F-ADDA-124D-B3E7-766A4C7E0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7AE287-EB47-0922-AC24-546F93E2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1B8C58-4AAA-EDF9-1D69-ADD53E98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7356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20E92-D3C7-60FB-726A-E69926BD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26664-C82F-76A1-EB4F-6BDA26673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Livres, mas responsáveis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75D0F6-076B-3BB6-3FE9-26558E0E9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2800" dirty="0"/>
              <a:t>	Todos somos livres para desejar, escolher, fazer e obter, mas todos somos também constrangidos a entrar nos resultados de nossas próprias obras.</a:t>
            </a:r>
            <a:endParaRPr lang="pt-BR" sz="10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FE0466-3A66-D7A4-1960-1C85B461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A4760F-2477-0FA7-AC8A-FED90136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0AE88B8-3550-51DD-A4ED-BD033424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5264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85E7B-66CE-2D60-D3CC-532C9CBB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18DCEA-4EBC-8E72-AAE6-9E0EF0AF5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Livres, mas responsáveis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840128-B7C8-9A4B-EF7F-7C537872E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1"/>
            <a:ext cx="6736360" cy="3758267"/>
          </a:xfrm>
        </p:spPr>
        <p:txBody>
          <a:bodyPr rtlCol="0">
            <a:normAutofit fontScale="62500" lnSpcReduction="20000"/>
          </a:bodyPr>
          <a:lstStyle>
            <a:defPPr>
              <a:defRPr lang="pt-BR"/>
            </a:defPPr>
          </a:lstStyle>
          <a:p>
            <a:pPr defTabSz="540000" rtl="0"/>
            <a:r>
              <a:rPr lang="pt-BR" sz="3600" dirty="0"/>
              <a:t>	Cabe à Doutrina Espírita explicar que os princípios da Justiça Eterna, em todo o Universo, não funcionam simplesmente à base de paraísos e infernos, castigos e privilégios de ordem exterior, mas, acima de tudo, através do instituto da reencarnação, em nós, conosco, junto de nós e por nós. Foi por isso que Jesus, compreendendo que não existe direito sem obrigação e nem equilíbrio sem consciência tranquila, nos afirmou, claramente: “Conhecereis a verdade e a verdade vos fará livres.”</a:t>
            </a:r>
          </a:p>
          <a:p>
            <a:pPr algn="r" defTabSz="540000" rtl="0"/>
            <a:r>
              <a:rPr lang="pt-BR" sz="3600" dirty="0"/>
              <a:t>Emmanuel</a:t>
            </a:r>
            <a:endParaRPr lang="pt-BR" sz="10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306092-8247-CF90-2BEB-136E5BEC9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C150DA-DFA2-F160-51FC-3FEBF27D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691949D-917C-0649-FFF9-CBC37B0B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9335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8A50-8D14-1DAE-6D38-7EF72301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9D20-4022-8A87-D7ED-55E40586B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020" y="2148840"/>
            <a:ext cx="5958980" cy="171553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Libertação Espiritual</a:t>
            </a:r>
            <a:endParaRPr lang="pt-BR" spc="5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41E22F-4384-C507-836A-BEBFCDB21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5299" y="3962003"/>
            <a:ext cx="4845621" cy="365125"/>
          </a:xfrm>
        </p:spPr>
        <p:txBody>
          <a:bodyPr rtlCol="0">
            <a:normAutofit fontScale="85000" lnSpcReduction="1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Livro </a:t>
            </a:r>
            <a:r>
              <a:rPr lang="pt-BR" i="1" dirty="0"/>
              <a:t>Encontro marcado , </a:t>
            </a:r>
            <a:r>
              <a:rPr lang="pt-BR" dirty="0"/>
              <a:t>cap 36 – Emmanuel / Chico Xavier</a:t>
            </a:r>
          </a:p>
        </p:txBody>
      </p:sp>
    </p:spTree>
    <p:extLst>
      <p:ext uri="{BB962C8B-B14F-4D97-AF65-F5344CB8AC3E}">
        <p14:creationId xmlns:p14="http://schemas.microsoft.com/office/powerpoint/2010/main" val="2159780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E2AE-62DA-FD8B-B34A-78DB288A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2C2ED-A9A6-BE92-E541-82494CD7B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Libertação Espiritual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D82963-E761-1A21-3FA5-1DA0944D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2800" dirty="0"/>
              <a:t>	A solução ao problema da libertação espiritual, considerado originariamente, é questão de foro íntimo, qual acontece ao homem na vida comum.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2D98DF-1F6B-8363-AA29-22EA5FEC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E02073-1710-C87F-6E7C-CCDE6759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0897998-66B0-36F1-C511-1B0AEA2A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0562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404CE-9017-3271-DD0F-D3F3BF4E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5C4B1-9FD5-C828-B1E7-C6EF30DB3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Libertação Espiritual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E18937-6236-B4DE-0507-83143B2AD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1900" dirty="0"/>
              <a:t>	Uma criatura poderá ter renascido em lastimáveis condições de penúria e acordar para as responsabilidades da reencarnação em ambiente vicioso, seja na família consanguínea ou na esfera de relações sociais em que foi levada a conviver, atravessando, por isso, largo trecho da existência em perigoso arrastamento ao mal; entretanto, se determina a si mesma o dever de elevar-se, acendendo no raciocínio a lâmpada do estudo e abraçando a trilha correta do trabalho, a breve tempo começa a receber o amparo daqueles a quem se faz útil, conquistando mais alto nível, do qual consegue estender braços fraternos, em socorro dos irmãos que ficaram na retaguarda.</a:t>
            </a:r>
          </a:p>
          <a:p>
            <a:pPr defTabSz="540000"/>
            <a:r>
              <a:rPr lang="pt-BR" sz="1900" dirty="0"/>
              <a:t>	Ocorre o mesmo nos domínios do espírito.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1C1F82-AFCC-9233-36A2-1702258B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F52B31-3538-0410-8403-E92634F4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99A120-EF38-041E-1463-3F544E83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5748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7BC8-2075-BEE2-E277-1230EC13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0D956-5C76-B268-5AB9-5517C7568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Libertação Espiritual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2DCBEE-4DAF-45EB-62FC-9D8389ABB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1900" dirty="0"/>
              <a:t>	Determinada pessoa pode encontrar-se, às súbitas, debaixo da influência de entidades perturbadoras, seja pelas haver atraído com pensamentos infelizes ou porque sejam elas aqueles companheiros que lhe constituem a equipe de sócios das existências passadas; consequentemente, é capaz de sofrer induções à delinquência, em atormentados processos obsessivos, mas, se delibera emancipar-se, procurando a luz do conhecimento e situando o caminho no serviço aos semelhantes, passa a recolher, de imediato, o concurso daquele a quem auxilia, alcançando mais alto nível, do qual pode enviar apoio amigo àqueles mesmos Espíritos que se lhe erigiam à condição de perseguidores.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11A3B9-344E-208A-53C1-E8A82D0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59669C-812B-BC8E-323B-F143A889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5D5BA29-05CC-3012-E99D-9944A4F57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2280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F8CC0-5F24-C74A-6BE6-CD363D2B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BDB0C-E49E-7B92-2668-2E05F6EFD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Libertação Espiritual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06D5AC-70A1-3C27-71DE-BC032A983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2800" dirty="0"/>
              <a:t>	Fácil de compreender que toda criatura está vinculada ao grupo de inteligências e corações que lhe são afins, sejam em nos referindo a companheiros encarnados ou desencarnados, diante das avenidas da renovação e do progresso, descerradas, indiscriminadamente, a nós todos.</a:t>
            </a:r>
            <a:endParaRPr lang="pt-BR" sz="19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D662F7-87D7-9E9B-596A-0674791A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386E83-B943-621E-DDA0-AAF718BA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7B5DA46-02CD-59F8-5DB9-DEEAD6DB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6858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F37C-E030-465F-D358-C8B64839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40CAD-75AF-D455-369B-F9482FE5B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205934"/>
            <a:ext cx="5111750" cy="5933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Libertação Espiritual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018902-4D0E-D2C8-B73E-8FD8E07B0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34" y="2155972"/>
            <a:ext cx="6736360" cy="348708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defTabSz="540000" rtl="0"/>
            <a:r>
              <a:rPr lang="pt-BR" sz="2000" dirty="0"/>
              <a:t>	À frente, pois, dessa verdade, toda vez que estivermos inclinados à queda nas sombras da obsessão, quando na estância física, será possível receber a cooperação salvacionista de numerosos benfeitores; reconhecendo, porém, aquela outra realidade da lei de sintonia, pela qual sabemos que o ímã de atração das nossas companhias está no campo de nossa própria alma, não será lícito esquecer que o trabalho de nossa libertação e reequilíbrio depende positivamente de nós.</a:t>
            </a:r>
          </a:p>
          <a:p>
            <a:pPr algn="r" defTabSz="540000" rtl="0"/>
            <a:r>
              <a:rPr lang="pt-BR" sz="2000" dirty="0"/>
              <a:t>Emmanuel</a:t>
            </a:r>
            <a:endParaRPr lang="pt-BR" sz="12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38AA98-D93E-AA49-D02A-A2E90F88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2F03F-B0F8-E310-6D68-962693B8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1BD04DA-8976-A30C-17B7-FAD0F132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4018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B4E35-D49E-B789-396E-F15D3CF9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EE8E4-8D26-22A9-7EDA-EBF88DAD0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020" y="2148840"/>
            <a:ext cx="5958980" cy="171553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 Parábola do Filho Pródigo</a:t>
            </a:r>
            <a:endParaRPr lang="pt-BR" spc="5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627C4D-74B3-4939-620A-997EF45A4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5299" y="3962003"/>
            <a:ext cx="4845621" cy="365125"/>
          </a:xfrm>
        </p:spPr>
        <p:txBody>
          <a:bodyPr rtlCol="0">
            <a:normAutofit lnSpcReduction="10000"/>
          </a:bodyPr>
          <a:lstStyle>
            <a:defPPr>
              <a:defRPr lang="pt-BR"/>
            </a:defPPr>
          </a:lstStyle>
          <a:p>
            <a:pPr rtl="0"/>
            <a:r>
              <a:rPr lang="pt-BR" sz="2000" dirty="0"/>
              <a:t>Lucas 15:11 a 32</a:t>
            </a:r>
          </a:p>
        </p:txBody>
      </p:sp>
    </p:spTree>
    <p:extLst>
      <p:ext uri="{BB962C8B-B14F-4D97-AF65-F5344CB8AC3E}">
        <p14:creationId xmlns:p14="http://schemas.microsoft.com/office/powerpoint/2010/main" val="325856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>
            <a:extLst>
              <a:ext uri="{FF2B5EF4-FFF2-40B4-BE49-F238E27FC236}">
                <a16:creationId xmlns:a16="http://schemas.microsoft.com/office/drawing/2014/main" id="{F6B816A2-FD49-BF74-2092-BE974EEE0793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1981200" y="476251"/>
            <a:ext cx="8229600" cy="5649913"/>
          </a:xfrm>
          <a:ln/>
        </p:spPr>
        <p:txBody>
          <a:bodyPr anchor="t"/>
          <a:lstStyle/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11. Continuou: Certo homem tinha dois filhos;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12. o mais moço deles disse ao pai: Pai, dá-me a parte que me cabe dos bens. E ele lhes repartiu os haveres.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13. Passados não muitos dias, o filho mais moço, ajuntando tudo o que era seu, partiu para uma terra distante, e lá dissipou todos os seus bens, vivendo dissolutamente. </a:t>
            </a:r>
          </a:p>
        </p:txBody>
      </p:sp>
    </p:spTree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>
            <a:extLst>
              <a:ext uri="{FF2B5EF4-FFF2-40B4-BE49-F238E27FC236}">
                <a16:creationId xmlns:a16="http://schemas.microsoft.com/office/drawing/2014/main" id="{C29D2741-CCEF-FB7C-651F-8B2055BDB0A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1981200" y="549275"/>
            <a:ext cx="8229600" cy="5576888"/>
          </a:xfrm>
          <a:ln/>
        </p:spPr>
        <p:txBody>
          <a:bodyPr anchor="t"/>
          <a:lstStyle/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14. Depois de ter consumido tudo, sobreveio àquele país uma grande fome, e ele começou a passar necessidade.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15. Então ele foi e se agregou a um dos cidadãos daquela terra, e este o mandou para os seus campos a guardar porcos.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16. Ali desejava ele fartar-se das alfarrobas que os porcos comiam; mas ninguém lhe dava nada.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endParaRPr lang="pt-BR" altLang="pt-BR" sz="32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BB85E9F1-1314-5551-05C9-E62C711760B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1981200" y="692151"/>
            <a:ext cx="8229600" cy="5434013"/>
          </a:xfrm>
          <a:ln/>
        </p:spPr>
        <p:txBody>
          <a:bodyPr anchor="t"/>
          <a:lstStyle/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17. Então, caindo em si, disse: Quantos trabalhadores de meu pai têm pão com fartura, e eu aqui morro de fome!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18. Levantar-me-ei e irei ter com meu pai e lhe direi: Pai, pequei contra o céu e diante de ti;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19. já não sou digno de ser chamado teu filho; trata-me como um dos teus trabalhadores.</a:t>
            </a:r>
          </a:p>
        </p:txBody>
      </p:sp>
    </p:spTree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2AEC0952-8342-64CC-40EF-90477C1A524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1981200" y="692151"/>
            <a:ext cx="8229600" cy="5434013"/>
          </a:xfrm>
          <a:ln/>
        </p:spPr>
        <p:txBody>
          <a:bodyPr anchor="t">
            <a:normAutofit lnSpcReduction="10000"/>
          </a:bodyPr>
          <a:lstStyle/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20. E, levantando-se, foi para seu pai. Vinha ele ainda longe, quando seu pai o avistou e, compadecido dele, correndo, o abraçou e beijou.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21. E o filho lhe disse: Pai, pequei contra o céu e diante de ti; já não sou digno de ser chamado teu filho.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22. O pai, porém, disse aos seus servos: Trazei depressa a melhor roupa; vesti-o, ponde-lhe um anel no dedo e sandálias nos pés;</a:t>
            </a:r>
          </a:p>
        </p:txBody>
      </p:sp>
    </p:spTree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>
            <a:extLst>
              <a:ext uri="{FF2B5EF4-FFF2-40B4-BE49-F238E27FC236}">
                <a16:creationId xmlns:a16="http://schemas.microsoft.com/office/drawing/2014/main" id="{35C55C76-2174-BFED-773C-E748A7A8ABE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1992313" y="620714"/>
            <a:ext cx="8229600" cy="5534025"/>
          </a:xfrm>
          <a:ln/>
        </p:spPr>
        <p:txBody>
          <a:bodyPr anchor="t">
            <a:normAutofit lnSpcReduction="10000"/>
          </a:bodyPr>
          <a:lstStyle/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23. trazei também e matai o novilho cevado. Comamos e regozijemo-nos,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24. porque este meu filho estava morto e reviveu, estava perdido e foi achado. E começaram a regozijar-se.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25. Ora, o filho mais velho estivera no campo; e, quando voltava, ao aproximar-se da casa, ouviu a música e as danças.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26. Chamou um dos criados e perguntou-lhe que era aquilo.</a:t>
            </a:r>
          </a:p>
        </p:txBody>
      </p:sp>
    </p:spTree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>
            <a:extLst>
              <a:ext uri="{FF2B5EF4-FFF2-40B4-BE49-F238E27FC236}">
                <a16:creationId xmlns:a16="http://schemas.microsoft.com/office/drawing/2014/main" id="{BBA64FC6-B92B-3303-59A2-209A23D9AB7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1981200" y="692151"/>
            <a:ext cx="8229600" cy="5434013"/>
          </a:xfrm>
          <a:ln/>
        </p:spPr>
        <p:txBody>
          <a:bodyPr anchor="t">
            <a:normAutofit lnSpcReduction="10000"/>
          </a:bodyPr>
          <a:lstStyle/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27. E ele informou: Veio teu irmão, e teu pai mandou matar o novilho cevado, porque o recuperou com saúde.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28. Ele se indignou e não queria entrar; saindo, porém, o pai procurava conciliá-lo.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29. Mas ele respondeu a seu pai: Há tantos anos que te sirvo sem jamais transgredir uma ordem tua, e nunca me deste um cabrito sequer para alegrar-me com os meus amigos;</a:t>
            </a:r>
          </a:p>
        </p:txBody>
      </p:sp>
    </p:spTree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>
            <a:extLst>
              <a:ext uri="{FF2B5EF4-FFF2-40B4-BE49-F238E27FC236}">
                <a16:creationId xmlns:a16="http://schemas.microsoft.com/office/drawing/2014/main" id="{493899B4-FA4E-DEE2-DA6A-8DBB38932B7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1981200" y="620713"/>
            <a:ext cx="8229600" cy="5505450"/>
          </a:xfrm>
          <a:ln/>
        </p:spPr>
        <p:txBody>
          <a:bodyPr anchor="t">
            <a:normAutofit lnSpcReduction="10000"/>
          </a:bodyPr>
          <a:lstStyle/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30. vindo, porém, esse teu filho, que desperdiçou os teus bens com meretrizes, tu mandaste matar para ele o novilho cevado.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31. Então lhe respondeu o pai: Meu filho, tu sempre estás comigo; tudo o que é meu é teu.</a:t>
            </a:r>
          </a:p>
          <a:p>
            <a:pPr indent="365125">
              <a:spcBef>
                <a:spcPts val="800"/>
              </a:spcBef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pt-BR" altLang="pt-BR" sz="3200">
                <a:solidFill>
                  <a:srgbClr val="FFFFFF"/>
                </a:solidFill>
              </a:rPr>
              <a:t>32. Entretanto, era preciso que nos regozijássemos e nos alegrássemos, porque esse teu irmão estava morto e reviveu, estava perdido e foi achado.</a:t>
            </a:r>
          </a:p>
        </p:txBody>
      </p:sp>
    </p:spTree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2AE6A-3D26-12B4-6576-69091EDA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D9B4-7E38-D07E-8EA4-6EBC151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3394" y="4434840"/>
            <a:ext cx="6324417" cy="112220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Livre Arbítrio, liberdade e autoconhecimento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EA305B-8A2A-CE05-DB2F-7CF172C0D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3394" y="5586890"/>
            <a:ext cx="6324417" cy="39666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Gabriel Mendonça</a:t>
            </a:r>
          </a:p>
        </p:txBody>
      </p:sp>
    </p:spTree>
    <p:extLst>
      <p:ext uri="{BB962C8B-B14F-4D97-AF65-F5344CB8AC3E}">
        <p14:creationId xmlns:p14="http://schemas.microsoft.com/office/powerpoint/2010/main" val="8152871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Introdução</a:t>
            </a:r>
          </a:p>
          <a:p>
            <a:pPr rtl="0"/>
            <a:r>
              <a:rPr lang="pt-BR"/>
              <a:t>Principais objetivos</a:t>
            </a:r>
          </a:p>
          <a:p>
            <a:pPr rtl="0"/>
            <a:r>
              <a:rPr lang="pt-BR"/>
              <a:t>Áreas de crescimento</a:t>
            </a:r>
          </a:p>
          <a:p>
            <a:pPr rtl="0"/>
            <a:r>
              <a:rPr lang="pt-BR"/>
              <a:t>Linha do Tempo</a:t>
            </a:r>
          </a:p>
          <a:p>
            <a:pPr rtl="0"/>
            <a:r>
              <a:rPr lang="pt-BR"/>
              <a:t>Resumo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B5BAF8-EA80-4AD4-8D83-5960C299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C19884-873C-4D13-BE6D-318CF07B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C991F00-87A7-45A6-8029-B097FA72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39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INTRODUÇÃO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3"/>
            <a:ext cx="4906920" cy="168558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Na </a:t>
            </a:r>
            <a:r>
              <a:rPr lang="pt-BR" dirty="0" err="1"/>
              <a:t>Contoso</a:t>
            </a:r>
            <a:r>
              <a:rPr lang="pt-BR" dirty="0"/>
              <a:t>, capacitamos as organizações a promover o pensamento colaborativo para impulsionar ainda mais a inovação no local de trabalho. Ao fechar o ciclo e alavancar estruturas ágeis, ajudamos as empresas a crescer organicamente e a promover uma mentalidade que prioriza o consumidor.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51ED20-04D4-4894-B0C2-9C541A61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40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E5F11-B7B9-4B80-8C6A-A8A7A719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148840"/>
            <a:ext cx="5200650" cy="171553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pc="50" dirty="0"/>
              <a:t>PRINCIPAIS OBJETIVOS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8AFAA9-633A-475C-B8ED-840A34F72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Crescimento da receita anual</a:t>
            </a:r>
          </a:p>
        </p:txBody>
      </p:sp>
    </p:spTree>
    <p:extLst>
      <p:ext uri="{BB962C8B-B14F-4D97-AF65-F5344CB8AC3E}">
        <p14:creationId xmlns:p14="http://schemas.microsoft.com/office/powerpoint/2010/main" val="3797280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6D044-C704-4974-935B-AE3D7EFC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DESEMPENHO TRIMESTRAL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A672774E-BCBF-4B44-9E79-28E9153ABA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18FAD6D3-B1FB-463D-87D0-FA9A4AEA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D5843A7-CBF3-441B-919C-8467B2BB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42</a:t>
            </a:fld>
            <a:endParaRPr lang="pt-BR" dirty="0"/>
          </a:p>
        </p:txBody>
      </p:sp>
      <p:graphicFrame>
        <p:nvGraphicFramePr>
          <p:cNvPr id="6" name="Espaço Reservado para Gráfico 5" descr="Espaço reservado para gráfico">
            <a:extLst>
              <a:ext uri="{FF2B5EF4-FFF2-40B4-BE49-F238E27FC236}">
                <a16:creationId xmlns:a16="http://schemas.microsoft.com/office/drawing/2014/main" id="{6F154ED7-FC5F-4626-9DAE-6254091B6B49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776073614"/>
              </p:ext>
            </p:extLst>
          </p:nvPr>
        </p:nvGraphicFramePr>
        <p:xfrm>
          <a:off x="838200" y="2111375"/>
          <a:ext cx="10515600" cy="3744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3579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ÁREAS DE CRESCIMENTO</a:t>
            </a:r>
          </a:p>
        </p:txBody>
      </p:sp>
      <p:graphicFrame>
        <p:nvGraphicFramePr>
          <p:cNvPr id="4" name="Tabela 4">
            <a:extLst>
              <a:ext uri="{FF2B5EF4-FFF2-40B4-BE49-F238E27FC236}">
                <a16:creationId xmlns:a16="http://schemas.microsoft.com/office/drawing/2014/main" id="{390E7E75-E57A-4FF0-A0E4-A4DBCF6EA89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022757904"/>
              </p:ext>
            </p:extLst>
          </p:nvPr>
        </p:nvGraphicFramePr>
        <p:xfrm>
          <a:off x="838200" y="2111375"/>
          <a:ext cx="10515600" cy="357097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2611045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472793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662282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347881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6635212"/>
                    </a:ext>
                  </a:extLst>
                </a:gridCol>
              </a:tblGrid>
              <a:tr h="714194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auto"/>
                      <a:r>
                        <a:rPr lang="pt-BR" sz="1600" b="1" i="0" noProof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600" b="0" i="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CATEGORIA 1</a:t>
                      </a:r>
                      <a:endParaRPr lang="pt-BR" sz="1600" b="1" i="0" noProof="0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600" b="0" i="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CATEGORIA 2</a:t>
                      </a:r>
                      <a:endParaRPr lang="pt-BR" sz="1600" b="1" i="0" noProof="0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600" b="0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CATEGORIA 3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600" b="0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CATEGORIA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328149"/>
                  </a:ext>
                </a:extLst>
              </a:tr>
              <a:tr h="714194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T1</a:t>
                      </a:r>
                      <a:endParaRPr lang="pt-BR" sz="1400" b="0" i="0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4,5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2,3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1,7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5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34841754"/>
                  </a:ext>
                </a:extLst>
              </a:tr>
              <a:tr h="714194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T2</a:t>
                      </a:r>
                      <a:endParaRPr lang="pt-BR" sz="1400" b="0" i="0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3,2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5,1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4,4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​,0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29140390"/>
                  </a:ext>
                </a:extLst>
              </a:tr>
              <a:tr h="714194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T3</a:t>
                      </a:r>
                      <a:endParaRPr lang="pt-BR" sz="1400" b="0" i="0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2,1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1,7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2,5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2,8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9990805"/>
                  </a:ext>
                </a:extLst>
              </a:tr>
              <a:tr h="714194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T4</a:t>
                      </a:r>
                      <a:endParaRPr lang="pt-BR" sz="1400" b="0" i="0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4,5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2,2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1,7</a:t>
                      </a:r>
                      <a:r>
                        <a:rPr lang="pt-BR" sz="1400" b="0" i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 fontAlgn="base"/>
                      <a:r>
                        <a:rPr lang="pt-BR" sz="1400" b="0" i="0" noProof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7,0</a:t>
                      </a:r>
                      <a:endParaRPr lang="pt-BR" sz="1400" b="0" i="0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8671141"/>
                  </a:ext>
                </a:extLst>
              </a:tr>
            </a:tbl>
          </a:graphicData>
        </a:graphic>
      </p:graphicFrame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F1AE66-47AA-4110-86B9-0626D495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A5A93F-DCAE-40B8-8E94-3239A1A6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03091613-153A-4005-9F4D-2F185AE5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43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96826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A2CD4-732A-43E4-BCB9-CBA2055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24" y="2809875"/>
            <a:ext cx="6696075" cy="19097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AS OPORTUNIDADES DE NEGÓCIOS SÃO COMO UM ÔNIBUS. SEMPRE HAVERÁ OUTRA EM BREVE.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FD0450-A909-4CD9-8912-96A19ACEB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Humberto Nascimento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53D834-F1E2-4848-8093-D412A7B0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55A49C-96F4-440D-B89E-A0AE94F7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2A39FA3-9AE3-4689-A469-B7D2DFCC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44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43797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A2D15-4D68-4BF7-9421-032AE6C8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CONHEÇA NOSSA EQUIPE</a:t>
            </a:r>
          </a:p>
        </p:txBody>
      </p:sp>
      <p:pic>
        <p:nvPicPr>
          <p:cNvPr id="16" name="Espaço Reservado para Imagem 15" descr="Foto de rosto para slides da equipe ">
            <a:extLst>
              <a:ext uri="{FF2B5EF4-FFF2-40B4-BE49-F238E27FC236}">
                <a16:creationId xmlns:a16="http://schemas.microsoft.com/office/drawing/2014/main" id="{788ADF35-7762-4E85-BE67-27FDB5522B9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7181" y="2886074"/>
            <a:ext cx="1845511" cy="1845511"/>
          </a:xfr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BCC184-1096-457B-AB72-BD49E6E54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8568" y="5084524"/>
            <a:ext cx="2317707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CECIL LIMA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DB420882-1CC0-49B4-8DDE-24EC2668750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87181" y="5464114"/>
            <a:ext cx="1845511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Presidente</a:t>
            </a:r>
          </a:p>
        </p:txBody>
      </p:sp>
      <p:pic>
        <p:nvPicPr>
          <p:cNvPr id="18" name="Espaço Reservado para Imagem 17" descr="Foto de rosto para slides da equipe ">
            <a:extLst>
              <a:ext uri="{FF2B5EF4-FFF2-40B4-BE49-F238E27FC236}">
                <a16:creationId xmlns:a16="http://schemas.microsoft.com/office/drawing/2014/main" id="{F2557ABA-5037-481D-8C54-94B63E80E2E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6914" y="2886074"/>
            <a:ext cx="1845511" cy="1845511"/>
          </a:xfrm>
        </p:spPr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8F0714D4-1A7C-4D7F-A5C0-4F766382B6A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578300" y="5084524"/>
            <a:ext cx="2330816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YARA LIMA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E017101B-2009-4267-8513-19000E37B1F0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36913" y="5478796"/>
            <a:ext cx="1855949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Diretor Executivo</a:t>
            </a:r>
          </a:p>
        </p:txBody>
      </p:sp>
      <p:pic>
        <p:nvPicPr>
          <p:cNvPr id="20" name="Espaço Reservado para Imagem 19" descr="Foto de rosto para slides da equipe ">
            <a:extLst>
              <a:ext uri="{FF2B5EF4-FFF2-40B4-BE49-F238E27FC236}">
                <a16:creationId xmlns:a16="http://schemas.microsoft.com/office/drawing/2014/main" id="{618E88B2-D607-4D3C-9519-A591A729DCC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7578" y="2886074"/>
            <a:ext cx="1845511" cy="1845511"/>
          </a:xfr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36AEE506-9967-4592-BC98-D3FD3028A8E5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966790" y="5084524"/>
            <a:ext cx="2522056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GABRIELLE GONÇALVES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D40B843D-6615-46EB-A813-BEBD624EC68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327577" y="5478796"/>
            <a:ext cx="1845511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Diretor de Operações</a:t>
            </a:r>
          </a:p>
        </p:txBody>
      </p:sp>
      <p:pic>
        <p:nvPicPr>
          <p:cNvPr id="22" name="Espaço Reservado para Imagem 21" descr="Foto de rosto para slides da equipe ">
            <a:extLst>
              <a:ext uri="{FF2B5EF4-FFF2-40B4-BE49-F238E27FC236}">
                <a16:creationId xmlns:a16="http://schemas.microsoft.com/office/drawing/2014/main" id="{82AF3253-9767-4EC7-B0DB-3A850BEFB035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7458" y="2886074"/>
            <a:ext cx="1845511" cy="1845511"/>
          </a:xfrm>
        </p:spPr>
      </p:pic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F5F1AEEC-D56B-4D10-B1F5-63AA91152B5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488845" y="5084524"/>
            <a:ext cx="2317706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HENRIQUE CASTRO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3099A0B0-BDD0-48DA-AA3E-13153E65129F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47458" y="5464114"/>
            <a:ext cx="184551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Vice-presidente de Marketing</a:t>
            </a:r>
          </a:p>
        </p:txBody>
      </p:sp>
      <p:sp>
        <p:nvSpPr>
          <p:cNvPr id="23" name="Espaço Reservado para Data 22">
            <a:extLst>
              <a:ext uri="{FF2B5EF4-FFF2-40B4-BE49-F238E27FC236}">
                <a16:creationId xmlns:a16="http://schemas.microsoft.com/office/drawing/2014/main" id="{637DEDF5-3FCD-4BC2-86A5-7BE2BF01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24" name="Espaço Reservado para Rodapé 23">
            <a:extLst>
              <a:ext uri="{FF2B5EF4-FFF2-40B4-BE49-F238E27FC236}">
                <a16:creationId xmlns:a16="http://schemas.microsoft.com/office/drawing/2014/main" id="{918C3C97-444D-4600-8553-B9C4C1F8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25" name="Espaço Reservado para o Número do Slide 24">
            <a:extLst>
              <a:ext uri="{FF2B5EF4-FFF2-40B4-BE49-F238E27FC236}">
                <a16:creationId xmlns:a16="http://schemas.microsoft.com/office/drawing/2014/main" id="{148E9129-4CC6-47BA-ACD8-2C632A86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45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93012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0E59-4C68-4F87-9821-23C69713D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CONHEÇA NOSSA EQUIPE </a:t>
            </a:r>
          </a:p>
        </p:txBody>
      </p:sp>
      <p:pic>
        <p:nvPicPr>
          <p:cNvPr id="357" name="Espaço Reservado para Imagem 356" descr="Foto de rosto para slides da equipe ">
            <a:extLst>
              <a:ext uri="{FF2B5EF4-FFF2-40B4-BE49-F238E27FC236}">
                <a16:creationId xmlns:a16="http://schemas.microsoft.com/office/drawing/2014/main" id="{1AA9DB68-9DD0-4157-9F94-F215A6B134C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7176" y="2428875"/>
            <a:ext cx="1066800" cy="1066800"/>
          </a:xfr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A49E2A-E51F-4DB7-B643-0BACFA4CD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168" y="3654378"/>
            <a:ext cx="182880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CECIL LIMA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A8375DF-11E9-44DF-BAA3-EACBE17AF4A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500168" y="3809747"/>
            <a:ext cx="182880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Presidente</a:t>
            </a:r>
          </a:p>
        </p:txBody>
      </p:sp>
      <p:pic>
        <p:nvPicPr>
          <p:cNvPr id="359" name="Espaço Reservado para Imagem 358" descr="Foto de rosto para slides da equipe ">
            <a:extLst>
              <a:ext uri="{FF2B5EF4-FFF2-40B4-BE49-F238E27FC236}">
                <a16:creationId xmlns:a16="http://schemas.microsoft.com/office/drawing/2014/main" id="{32C08192-2F27-4ED3-9CEE-4C37C7DFE67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6270" y="2428875"/>
            <a:ext cx="1066800" cy="1066800"/>
          </a:xfrm>
        </p:spPr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9584E2DE-7061-44CB-A94B-5555484F974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49262" y="3654378"/>
            <a:ext cx="182880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YARA LIMA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7F11552-18E0-4565-AE6F-DE5290DF1269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49262" y="3809747"/>
            <a:ext cx="182880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Diretor Executivo</a:t>
            </a:r>
          </a:p>
        </p:txBody>
      </p:sp>
      <p:pic>
        <p:nvPicPr>
          <p:cNvPr id="361" name="Espaço Reservado para Imagem 360" descr="Foto de rosto para slides da equipe ">
            <a:extLst>
              <a:ext uri="{FF2B5EF4-FFF2-40B4-BE49-F238E27FC236}">
                <a16:creationId xmlns:a16="http://schemas.microsoft.com/office/drawing/2014/main" id="{CA581025-9A6A-4294-8F86-E611BCEFAB15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5584" y="2428875"/>
            <a:ext cx="1066800" cy="1066800"/>
          </a:xfr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87AF403D-91FB-404C-9346-862EFEC3564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98355" y="3654378"/>
            <a:ext cx="2105135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HENRIQUE CASTRO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2682AD9-94FA-4E64-864B-DC8F7A320D5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095999" y="3809747"/>
            <a:ext cx="2299855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Diretor de Operações</a:t>
            </a:r>
          </a:p>
        </p:txBody>
      </p:sp>
      <p:pic>
        <p:nvPicPr>
          <p:cNvPr id="363" name="Espaço Reservado para Imagem 362" descr="Foto de rosto para slides da equipe ">
            <a:extLst>
              <a:ext uri="{FF2B5EF4-FFF2-40B4-BE49-F238E27FC236}">
                <a16:creationId xmlns:a16="http://schemas.microsoft.com/office/drawing/2014/main" id="{0AB7C4F4-0E33-47EC-A40D-D03ECD81A39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6814" y="2428875"/>
            <a:ext cx="1066800" cy="1066800"/>
          </a:xfrm>
        </p:spPr>
      </p:pic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EE34DCC-0789-4B21-A328-FF554B1B07B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759806" y="3654378"/>
            <a:ext cx="182880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HENRIQUE CASTRO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AE93F4CF-DD26-41DA-BA4C-2DCAC0B2F5E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442664" y="3809747"/>
            <a:ext cx="2447758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Vice-presidente de Marketing</a:t>
            </a:r>
          </a:p>
        </p:txBody>
      </p:sp>
      <p:pic>
        <p:nvPicPr>
          <p:cNvPr id="365" name="Espaço Reservado para Imagem 364" descr="Foto de rosto para slides da equipe ">
            <a:extLst>
              <a:ext uri="{FF2B5EF4-FFF2-40B4-BE49-F238E27FC236}">
                <a16:creationId xmlns:a16="http://schemas.microsoft.com/office/drawing/2014/main" id="{13CD5AED-E130-432E-8952-7CB3F68F3312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7176" y="4287711"/>
            <a:ext cx="1066800" cy="1066800"/>
          </a:xfrm>
        </p:spPr>
      </p:pic>
      <p:sp>
        <p:nvSpPr>
          <p:cNvPr id="36" name="Espaço Reservado para Texto 35">
            <a:extLst>
              <a:ext uri="{FF2B5EF4-FFF2-40B4-BE49-F238E27FC236}">
                <a16:creationId xmlns:a16="http://schemas.microsoft.com/office/drawing/2014/main" id="{9935192B-6592-4598-9D51-CFDF6F0A854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0168" y="5513214"/>
            <a:ext cx="182880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DOMINIQUE OLIVEIRA</a:t>
            </a:r>
          </a:p>
        </p:txBody>
      </p:sp>
      <p:sp>
        <p:nvSpPr>
          <p:cNvPr id="44" name="Espaço Reservado para Texto 43">
            <a:extLst>
              <a:ext uri="{FF2B5EF4-FFF2-40B4-BE49-F238E27FC236}">
                <a16:creationId xmlns:a16="http://schemas.microsoft.com/office/drawing/2014/main" id="{F759A1DD-45A5-4764-8966-C107C4C4832C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1191073" y="5668583"/>
            <a:ext cx="244699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Vice-presidente de Produto</a:t>
            </a:r>
          </a:p>
        </p:txBody>
      </p:sp>
      <p:pic>
        <p:nvPicPr>
          <p:cNvPr id="367" name="Espaço Reservado para Imagem 366" descr="Foto de rosto para slides da equipe ">
            <a:extLst>
              <a:ext uri="{FF2B5EF4-FFF2-40B4-BE49-F238E27FC236}">
                <a16:creationId xmlns:a16="http://schemas.microsoft.com/office/drawing/2014/main" id="{73D462EE-3D1E-4964-B729-2B963BD87288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6270" y="4287711"/>
            <a:ext cx="1066800" cy="1066800"/>
          </a:xfrm>
        </p:spPr>
      </p:pic>
      <p:sp>
        <p:nvSpPr>
          <p:cNvPr id="41" name="Espaço Reservado para Texto 40">
            <a:extLst>
              <a:ext uri="{FF2B5EF4-FFF2-40B4-BE49-F238E27FC236}">
                <a16:creationId xmlns:a16="http://schemas.microsoft.com/office/drawing/2014/main" id="{6B09ED3A-8EC7-42CA-B68B-1377E5460E7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849262" y="5513214"/>
            <a:ext cx="182880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MICA PEREIRA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021B5FEC-BECF-4604-A9AB-1C9E810794F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849262" y="5668583"/>
            <a:ext cx="182880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Estrategista de SEO</a:t>
            </a:r>
          </a:p>
        </p:txBody>
      </p:sp>
      <p:pic>
        <p:nvPicPr>
          <p:cNvPr id="369" name="Espaço Reservado para Imagem 368" descr="Foto de rosto para slides da equipe ">
            <a:extLst>
              <a:ext uri="{FF2B5EF4-FFF2-40B4-BE49-F238E27FC236}">
                <a16:creationId xmlns:a16="http://schemas.microsoft.com/office/drawing/2014/main" id="{3DD82FDB-1001-45E1-AA54-7904FCC108DE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5584" y="4287711"/>
            <a:ext cx="1066800" cy="1066800"/>
          </a:xfrm>
        </p:spPr>
      </p:pic>
      <p:sp>
        <p:nvSpPr>
          <p:cNvPr id="42" name="Espaço Reservado para Texto 41">
            <a:extLst>
              <a:ext uri="{FF2B5EF4-FFF2-40B4-BE49-F238E27FC236}">
                <a16:creationId xmlns:a16="http://schemas.microsoft.com/office/drawing/2014/main" id="{3E07A9F3-763B-41EA-AC65-8EDB2CA31B8A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339926" y="5513214"/>
            <a:ext cx="182880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CRIS BARROS</a:t>
            </a:r>
          </a:p>
        </p:txBody>
      </p:sp>
      <p:sp>
        <p:nvSpPr>
          <p:cNvPr id="46" name="Espaço Reservado para Texto 45">
            <a:extLst>
              <a:ext uri="{FF2B5EF4-FFF2-40B4-BE49-F238E27FC236}">
                <a16:creationId xmlns:a16="http://schemas.microsoft.com/office/drawing/2014/main" id="{53A42804-1F4C-424E-9CB4-D1CD97B11CDE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339926" y="5668583"/>
            <a:ext cx="1813474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Designer de Produto</a:t>
            </a:r>
          </a:p>
        </p:txBody>
      </p:sp>
      <p:pic>
        <p:nvPicPr>
          <p:cNvPr id="371" name="Espaço Reservado para Imagem 370" descr="Foto de rosto para slides da equipe ">
            <a:extLst>
              <a:ext uri="{FF2B5EF4-FFF2-40B4-BE49-F238E27FC236}">
                <a16:creationId xmlns:a16="http://schemas.microsoft.com/office/drawing/2014/main" id="{5DC64598-F871-46A7-9338-8EB7BF26BEB6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6814" y="4287711"/>
            <a:ext cx="1066800" cy="1066800"/>
          </a:xfrm>
        </p:spPr>
      </p:pic>
      <p:sp>
        <p:nvSpPr>
          <p:cNvPr id="43" name="Espaço Reservado para Texto 42">
            <a:extLst>
              <a:ext uri="{FF2B5EF4-FFF2-40B4-BE49-F238E27FC236}">
                <a16:creationId xmlns:a16="http://schemas.microsoft.com/office/drawing/2014/main" id="{7E484450-BE48-4C65-AEE1-5650AAC06067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759806" y="5513214"/>
            <a:ext cx="1828800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ALBERTO RAMOS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8D8B5AD3-AE51-4D7A-AE7B-E9C350D0879B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8533281" y="5668583"/>
            <a:ext cx="2266524" cy="3430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Desenvolvedor de Conteúdo</a:t>
            </a:r>
          </a:p>
        </p:txBody>
      </p:sp>
      <p:sp>
        <p:nvSpPr>
          <p:cNvPr id="56" name="Espaço Reservado para Data 55">
            <a:extLst>
              <a:ext uri="{FF2B5EF4-FFF2-40B4-BE49-F238E27FC236}">
                <a16:creationId xmlns:a16="http://schemas.microsoft.com/office/drawing/2014/main" id="{B289356A-BDA0-4234-84F2-9F2F25D0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57" name="Espaço Reservado para Rodapé 56">
            <a:extLst>
              <a:ext uri="{FF2B5EF4-FFF2-40B4-BE49-F238E27FC236}">
                <a16:creationId xmlns:a16="http://schemas.microsoft.com/office/drawing/2014/main" id="{3A38BE84-957B-46B9-A315-4B5064DF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58" name="Espaço Reservado para o Número do Slide 57">
            <a:extLst>
              <a:ext uri="{FF2B5EF4-FFF2-40B4-BE49-F238E27FC236}">
                <a16:creationId xmlns:a16="http://schemas.microsoft.com/office/drawing/2014/main" id="{E1900601-8B04-4FF3-B06F-6BEFAC65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46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50799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PLANO PARA LANÇAMENTO DO PRODUTO</a:t>
            </a:r>
          </a:p>
        </p:txBody>
      </p:sp>
      <p:graphicFrame>
        <p:nvGraphicFramePr>
          <p:cNvPr id="33" name="Espaço Reservado para Conteúdo 3" descr="Espaço Reservado para Linha do Tempo ">
            <a:extLst>
              <a:ext uri="{FF2B5EF4-FFF2-40B4-BE49-F238E27FC236}">
                <a16:creationId xmlns:a16="http://schemas.microsoft.com/office/drawing/2014/main" id="{7BC1F95D-CCD2-421B-B06B-706699FAAD5D}"/>
              </a:ext>
            </a:extLst>
          </p:cNvPr>
          <p:cNvGraphicFramePr>
            <a:graphicFrameLocks noGrp="1"/>
          </p:cNvGraphicFramePr>
          <p:nvPr>
            <p:ph type="dgm" sz="quarter" idx="15"/>
            <p:extLst>
              <p:ext uri="{D42A27DB-BD31-4B8C-83A1-F6EECF244321}">
                <p14:modId xmlns:p14="http://schemas.microsoft.com/office/powerpoint/2010/main" val="2413551933"/>
              </p:ext>
            </p:extLst>
          </p:nvPr>
        </p:nvGraphicFramePr>
        <p:xfrm>
          <a:off x="838200" y="2111375"/>
          <a:ext cx="10515600" cy="3744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3627CC26-34EF-4BB9-B289-9EC56B07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4E98E6AD-9D37-499C-898E-ED12AC36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92908AF9-2A07-4B50-BC13-47179210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47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63854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3DB88-62DD-4C41-977F-D59BEF14E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LINHA DO TEMPO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F37E83-2D8B-42EF-A2C4-5D2BBDB1F0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T1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D77839-2CFD-4BC8-85DA-9EE69CCE1B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T2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7E386FF-C90F-4484-A843-D4BA75FFF0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T3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30780D1-5C1B-411C-81ED-7B9970FCBF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T4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FABE7D8B-D1CD-44C0-AD2D-2ABA67684E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6" y="1613528"/>
            <a:ext cx="5102680" cy="101084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Sinergizar o comércio eletrônico dimensionável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8C2F0B15-120C-423F-8EE5-F303B19D5C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9" y="2682564"/>
            <a:ext cx="5102680" cy="101084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Coordenar aplicativos de comércio eletrônico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300D2644-F516-41F1-A88D-93673EA209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4250804" cy="101084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Implante redes estratégicas com necessidades de comércio eletrônico convincentes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405A1F0-98C1-4B11-8D9A-3C009ADC44D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80" y="4824430"/>
            <a:ext cx="5102680" cy="101084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Divulgar as métricas padronizadas</a:t>
            </a:r>
          </a:p>
        </p:txBody>
      </p:sp>
      <p:sp>
        <p:nvSpPr>
          <p:cNvPr id="16" name="Espaço Reservado para Data 15">
            <a:extLst>
              <a:ext uri="{FF2B5EF4-FFF2-40B4-BE49-F238E27FC236}">
                <a16:creationId xmlns:a16="http://schemas.microsoft.com/office/drawing/2014/main" id="{24238BD7-9B10-4E64-B1B4-FDE6DD70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17" name="Espaço Reservado para Rodapé 16">
            <a:extLst>
              <a:ext uri="{FF2B5EF4-FFF2-40B4-BE49-F238E27FC236}">
                <a16:creationId xmlns:a16="http://schemas.microsoft.com/office/drawing/2014/main" id="{CD3D67B7-A821-49FC-94BE-19EDE9D3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8" name="Espaço Reservado para o Número do Slide 17">
            <a:extLst>
              <a:ext uri="{FF2B5EF4-FFF2-40B4-BE49-F238E27FC236}">
                <a16:creationId xmlns:a16="http://schemas.microsoft.com/office/drawing/2014/main" id="{C8D6D0E8-3983-4B7D-ADB2-077E17AD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48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1043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ÁREAS DE FOCO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5AD8B9-3719-4696-A80F-16A618C5D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CENÁRIOS DE MERCADO B2B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Desenvolva estratégias vencedoras para se manter à frente da concorrência</a:t>
            </a:r>
          </a:p>
          <a:p>
            <a:pPr rtl="0"/>
            <a:r>
              <a:rPr lang="pt-BR" dirty="0"/>
              <a:t>​Capitalize a alternativa mais fácil para identificar um valor aproximado</a:t>
            </a:r>
          </a:p>
          <a:p>
            <a:pPr rtl="0"/>
            <a:r>
              <a:rPr lang="pt-BR" dirty="0"/>
              <a:t>​Visualize a convergência direcionada ao cliente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CDEC5F-B8EE-4BC1-843F-13135E6E7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OPORTUNIDADES BASEADAS EM NUVEM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B65871-FA95-449A-B8BC-90486DE53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4238130" cy="199786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Abordagens iterativas da estratégia corporativa</a:t>
            </a:r>
          </a:p>
          <a:p>
            <a:pPr rtl="0"/>
            <a:r>
              <a:rPr lang="pt-BR" dirty="0"/>
              <a:t>​Estabelecer uma estrutura de gerenciamento a partir de dentro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2A46C4A-D036-4440-BB64-6754F4FF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5F172A-5D5D-43CD-A187-DA0D303F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49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3780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CA0637-CCAA-425E-A57A-6205AFDC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COMO CHEGAREMOS LÁ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51C395-6BC4-4F00-B40B-069DBBB7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ROI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D16151-9486-4A03-AE3A-F1CC562E0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997049" cy="199786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Prever as competências baseadas em multimídia e as estratégias de crescimento entre mídias</a:t>
            </a:r>
          </a:p>
          <a:p>
            <a:pPr rtl="0"/>
            <a:r>
              <a:rPr lang="pt-BR" dirty="0"/>
              <a:t>​Envolva metodologias mundiais com tecnologias habilitadas para Web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E59236-37DD-4582-A2A0-3F9A13A3B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3170043" cy="823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NICHOS DE MERCADOS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1CCF0F-F0BB-42D7-B3C2-C29336739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997049" cy="199786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Buscar atendimento ao cliente escalável por meio de estratégias sustentáveis</a:t>
            </a:r>
          </a:p>
          <a:p>
            <a:pPr rtl="0"/>
            <a:r>
              <a:rPr lang="pt-BR" dirty="0"/>
              <a:t>Envolva os principais serviços da web com produtos de última geração​​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1F939793-2181-4A3D-9C5A-CE676CC83EC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CADEIAS DE ABASTECIMENTO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9FA0B0D-7B36-4D63-86BD-20E6E1B6A0D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Cultivar a individualização do atendimento ao cliente com ideias robustas</a:t>
            </a:r>
          </a:p>
          <a:p>
            <a:pPr rtl="0"/>
            <a:r>
              <a:rPr lang="pt-BR"/>
              <a:t>Maximizar os prazos de entrega para esquemas em tempo real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B86AD343-7149-4E7C-BD28-3080F259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A865CC01-A53B-495A-820C-BEC2680ED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7AE81C1E-A7C3-40CD-9C11-0C03A222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50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4294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RESUMO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3"/>
            <a:ext cx="5177143" cy="208099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Na </a:t>
            </a:r>
            <a:r>
              <a:rPr lang="pt-BR" dirty="0" err="1"/>
              <a:t>Contoso</a:t>
            </a:r>
            <a:r>
              <a:rPr lang="pt-BR" dirty="0"/>
              <a:t>, acreditamos em dar 110% Usando nossa arquitetura de dados de última geração, ajudamos as organizações a gerenciar virtualmente fluxos de trabalho ágeis. Nós prosperamos devido ao nosso conhecimento de mercado e a grande equipe por trás do nosso produto. Como diz nosso CEO, "As eficiências virão da transformação proativa da forma como fazemos negócios".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560550-EE65-43CE-B899-F421E742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35E32A-1A8C-43D2-9C6E-12887B4D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51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OBRIGADO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Mirjam Nilsson</a:t>
            </a:r>
          </a:p>
          <a:p>
            <a:pPr rtl="0"/>
            <a:r>
              <a:rPr lang="pt-BR"/>
              <a:t>mirjam@contoso.com</a:t>
            </a:r>
          </a:p>
          <a:p>
            <a:pPr rtl="0"/>
            <a:r>
              <a:rPr lang="pt-BR"/>
              <a:t>www.contoso.com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7C7382-18E7-4821-8C61-461D6BBE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90FA1B-5022-47AB-A0AE-8F5C5797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52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99600_TF67328976_Win32" id="{E8320FF0-18FA-444D-A42B-A81EBE483301}" vid="{E16F9882-0EC9-4C2F-8371-0CACE7A23B4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D6FE22-81A0-4500-AFD0-342D21BB9A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C43685-694E-4579-B109-3C418D49DA6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96B61E-1B64-430F-934F-7D1B90028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{7B91370C-5220-43B6-AAF3-399AF1655A50}tf67328976_win32</Template>
  <TotalTime>54</TotalTime>
  <Words>2847</Words>
  <Application>Microsoft Office PowerPoint</Application>
  <PresentationFormat>Widescreen</PresentationFormat>
  <Paragraphs>365</Paragraphs>
  <Slides>52</Slides>
  <Notes>52</Notes>
  <HiddenSlides>22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Tenorite</vt:lpstr>
      <vt:lpstr>Tema do Office</vt:lpstr>
      <vt:lpstr>Livre Arbítrio, liberdade e autoconhecimento</vt:lpstr>
      <vt:lpstr>Lei de Liberdade</vt:lpstr>
      <vt:lpstr>Lei de Liberdade</vt:lpstr>
      <vt:lpstr>Lei de Liberdade</vt:lpstr>
      <vt:lpstr>Lei de Liberdade</vt:lpstr>
      <vt:lpstr>Lei de Liberdade</vt:lpstr>
      <vt:lpstr>Lei de Liberdade</vt:lpstr>
      <vt:lpstr>Lei de Liberdade</vt:lpstr>
      <vt:lpstr>Lei de Liberdade</vt:lpstr>
      <vt:lpstr>“833. Haverá no homem alguma coisa que escape a todo constrangimento e pela qual goze ele de absoluta liberdade?”</vt:lpstr>
      <vt:lpstr>“No pensamento goza o homem de ilimitada liberdade, pois que não admite barreiras. Pode-se deter-lhe o ímpeto, porém, não aniquilá-lo.”</vt:lpstr>
      <vt:lpstr>“834. É responsável o homem pelo seu pensamento?”  “Perante Deus, é. Somente a Deus sendo possível conhecê-lo, ele o condena ou absolve, segundo a sua justiça.”</vt:lpstr>
      <vt:lpstr>843. Tem o homem o livre-arbítrio de seus atos?  “Pois que tem a liberdade de pensar, tem igualmente a de obrar. Sem o livre-arbítrio, o homem seria máquina.”</vt:lpstr>
      <vt:lpstr>Livres, mas responsáveis</vt:lpstr>
      <vt:lpstr>Livres, mas responsáveis</vt:lpstr>
      <vt:lpstr>Livres, mas responsáveis</vt:lpstr>
      <vt:lpstr>Livres, mas responsáveis</vt:lpstr>
      <vt:lpstr>Livres, mas responsáveis</vt:lpstr>
      <vt:lpstr>Livres, mas responsáveis</vt:lpstr>
      <vt:lpstr>Livres, mas responsáveis</vt:lpstr>
      <vt:lpstr>Livres, mas responsáveis</vt:lpstr>
      <vt:lpstr>Livres, mas responsáveis</vt:lpstr>
      <vt:lpstr>Livres, mas responsáveis</vt:lpstr>
      <vt:lpstr>Libertação Espiritual</vt:lpstr>
      <vt:lpstr>Libertação Espiritual</vt:lpstr>
      <vt:lpstr>Libertação Espiritual</vt:lpstr>
      <vt:lpstr>Libertação Espiritual</vt:lpstr>
      <vt:lpstr>Libertação Espiritual</vt:lpstr>
      <vt:lpstr>Libertação Espiritual</vt:lpstr>
      <vt:lpstr>A Parábola do Filho Pródigo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Livre Arbítrio, liberdade e autoconhecimento</vt:lpstr>
      <vt:lpstr>AGENDA</vt:lpstr>
      <vt:lpstr>INTRODUÇÃO</vt:lpstr>
      <vt:lpstr>PRINCIPAIS OBJETIVOS</vt:lpstr>
      <vt:lpstr>DESEMPENHO TRIMESTRAL</vt:lpstr>
      <vt:lpstr>ÁREAS DE CRESCIMENTO</vt:lpstr>
      <vt:lpstr>AS OPORTUNIDADES DE NEGÓCIOS SÃO COMO UM ÔNIBUS. SEMPRE HAVERÁ OUTRA EM BREVE.</vt:lpstr>
      <vt:lpstr>CONHEÇA NOSSA EQUIPE</vt:lpstr>
      <vt:lpstr>CONHEÇA NOSSA EQUIPE </vt:lpstr>
      <vt:lpstr>PLANO PARA LANÇAMENTO DO PRODUTO</vt:lpstr>
      <vt:lpstr>LINHA DO TEMPO</vt:lpstr>
      <vt:lpstr>ÁREAS DE FOCO</vt:lpstr>
      <vt:lpstr>COMO CHEGAREMOS LÁ</vt:lpstr>
      <vt:lpstr>RESUMO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DA APRESENTAÇÃO</dc:title>
  <dc:creator>Gabriel Mendonça</dc:creator>
  <cp:lastModifiedBy>Gabriel Mendonça</cp:lastModifiedBy>
  <cp:revision>27</cp:revision>
  <dcterms:created xsi:type="dcterms:W3CDTF">2024-02-04T17:51:14Z</dcterms:created>
  <dcterms:modified xsi:type="dcterms:W3CDTF">2024-02-04T18:45:23Z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