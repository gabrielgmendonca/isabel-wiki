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7" r:id="rId10"/>
    <p:sldId id="282" r:id="rId11"/>
    <p:sldId id="276" r:id="rId12"/>
    <p:sldId id="277" r:id="rId13"/>
    <p:sldId id="279" r:id="rId14"/>
    <p:sldId id="278" r:id="rId15"/>
    <p:sldId id="280" r:id="rId16"/>
    <p:sldId id="281" r:id="rId17"/>
    <p:sldId id="272" r:id="rId18"/>
    <p:sldId id="269" r:id="rId19"/>
    <p:sldId id="270" r:id="rId20"/>
    <p:sldId id="271" r:id="rId21"/>
    <p:sldId id="273" r:id="rId22"/>
    <p:sldId id="274" r:id="rId23"/>
    <p:sldId id="275" r:id="rId24"/>
    <p:sldId id="284" r:id="rId25"/>
    <p:sldId id="295" r:id="rId26"/>
    <p:sldId id="285" r:id="rId27"/>
    <p:sldId id="265" r:id="rId28"/>
    <p:sldId id="287" r:id="rId29"/>
    <p:sldId id="286" r:id="rId30"/>
    <p:sldId id="293" r:id="rId31"/>
    <p:sldId id="291" r:id="rId32"/>
    <p:sldId id="292" r:id="rId33"/>
    <p:sldId id="290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606" autoAdjust="0"/>
  </p:normalViewPr>
  <p:slideViewPr>
    <p:cSldViewPr snapToGrid="0">
      <p:cViewPr varScale="1">
        <p:scale>
          <a:sx n="93" d="100"/>
          <a:sy n="93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44E65-40CA-4C5E-9914-AB89C22F4FB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72CED-0985-40B7-A87A-94B18B5CF64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14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32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dirty="0"/>
              <a:t>Quem aqui já fez uma entrevista de emprego?</a:t>
            </a:r>
          </a:p>
          <a:p>
            <a:pPr marL="628650" lvl="1" indent="-171450">
              <a:buFontTx/>
              <a:buChar char="-"/>
            </a:pPr>
            <a:r>
              <a:rPr lang="pt-BR" dirty="0"/>
              <a:t>E quem pediu para passar?</a:t>
            </a:r>
          </a:p>
          <a:p>
            <a:pPr marL="171450" lvl="0" indent="-171450">
              <a:buFontTx/>
              <a:buChar char="-"/>
            </a:pPr>
            <a:r>
              <a:rPr lang="pt-BR" dirty="0"/>
              <a:t>Quem já ficou doente?</a:t>
            </a:r>
          </a:p>
          <a:p>
            <a:pPr marL="628650" lvl="1" indent="-171450">
              <a:buFontTx/>
              <a:buChar char="-"/>
            </a:pPr>
            <a:r>
              <a:rPr lang="pt-BR" dirty="0"/>
              <a:t>E quem pediu para ficar bom?</a:t>
            </a:r>
          </a:p>
          <a:p>
            <a:pPr marL="171450" lvl="0" indent="-171450">
              <a:buFontTx/>
              <a:buChar char="-"/>
            </a:pPr>
            <a:r>
              <a:rPr lang="pt-BR" dirty="0"/>
              <a:t>Será que Deus pode atender aos pedidos de todos?</a:t>
            </a:r>
          </a:p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907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370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551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191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408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555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55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035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652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740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072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941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632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38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72CED-0985-40B7-A87A-94B18B5CF64C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56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73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47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55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3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9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16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261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72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04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51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1645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412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835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441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32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01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8079D-4C43-409A-A971-24F8E1DA4F19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167FD96-DAD9-4083-BC86-88A4C961513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77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Brazil_and_Croatia_match_at_the_FIFA_World_Cup_2014-06-12_(15).jp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culturacientifica.com/2017/11/10/la-compleja-transicion-cazador-recolector-agricultor/transicion-de-cazador-recolector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adavey/31622868422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earch?wallpaper=medieval&amp;page=2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pam.com.br/blog/revolucao-industrial-2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ins.revues.org/10327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hyperlink" Target="https://tourhistoria.es/2019/10/la-urss-lanza-el-sputnik-i-el-4-de-octubre-del-1957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astroblogs.nl/tag/apollo-11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2BEB-EEAF-6AE0-C08D-48A781AAD2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Ajuda-te a ti mesmo, que o céu te ajudará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9EE0D-1E7D-5A38-9ECE-2DDF8E5B1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 Evangelho Segundo o Espiritismo, cap. XXV, itens 1 a 5.</a:t>
            </a:r>
          </a:p>
        </p:txBody>
      </p:sp>
    </p:spTree>
    <p:extLst>
      <p:ext uri="{BB962C8B-B14F-4D97-AF65-F5344CB8AC3E}">
        <p14:creationId xmlns:p14="http://schemas.microsoft.com/office/powerpoint/2010/main" val="3779082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3072543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“Pedi e se vos dará; buscai e achareis; batei à porta e se vos abrirá; porquanto quem pede recebe e quem procura acha, e àquele que bata à porta, abrir-se-á.”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1" y="46132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Mateus, 7:7 e 8</a:t>
            </a:r>
          </a:p>
        </p:txBody>
      </p:sp>
    </p:spTree>
    <p:extLst>
      <p:ext uri="{BB962C8B-B14F-4D97-AF65-F5344CB8AC3E}">
        <p14:creationId xmlns:p14="http://schemas.microsoft.com/office/powerpoint/2010/main" val="367993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3072543"/>
          </a:xfrm>
        </p:spPr>
        <p:txBody>
          <a:bodyPr>
            <a:noAutofit/>
          </a:bodyPr>
          <a:lstStyle/>
          <a:p>
            <a:r>
              <a:rPr lang="pt-BR" sz="2800" i="1" dirty="0"/>
              <a:t>“Qual o homem, dentre vós, que dá uma pedra ao filho que lhe pede pão? — Ou, se pedir um peixe, dar-lhe-á uma serpente? — Ora, se, sendo maus como sois, sabeis dar boas coisas aos vossos filhos, não é lógico que, com mais forte razão, vosso Pai que está nos céus dê os bens verdadeiros aos que </a:t>
            </a:r>
            <a:r>
              <a:rPr lang="pt-BR" sz="2800" i="1" dirty="0" err="1"/>
              <a:t>lhos</a:t>
            </a:r>
            <a:r>
              <a:rPr lang="pt-BR" sz="2800" i="1" dirty="0"/>
              <a:t> pedirem?”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1" y="46132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Mateus, 7:9 a 11</a:t>
            </a:r>
          </a:p>
        </p:txBody>
      </p:sp>
    </p:spTree>
    <p:extLst>
      <p:ext uri="{BB962C8B-B14F-4D97-AF65-F5344CB8AC3E}">
        <p14:creationId xmlns:p14="http://schemas.microsoft.com/office/powerpoint/2010/main" val="397094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football players on a field">
            <a:extLst>
              <a:ext uri="{FF2B5EF4-FFF2-40B4-BE49-F238E27FC236}">
                <a16:creationId xmlns:a16="http://schemas.microsoft.com/office/drawing/2014/main" id="{7B3437BE-5F75-6DF6-6A6F-22BACCF43C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886634-4E8F-5951-34CB-4004BF48DD35}"/>
              </a:ext>
            </a:extLst>
          </p:cNvPr>
          <p:cNvSpPr txBox="1"/>
          <p:nvPr/>
        </p:nvSpPr>
        <p:spPr>
          <a:xfrm>
            <a:off x="9511458" y="6657945"/>
            <a:ext cx="26805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commons.wikimedia.org/wiki/File:Brazil_and_Croatia_match_at_the_FIFA_World_Cup_2014-06-12_(15).jp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by Unknown Author is licensed under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5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3072543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“Pedi e se vos dará; buscai e achareis; batei à porta e se vos abrirá; porquanto quem pede recebe e quem procura acha, e àquele que bata à porta, abrir-se-á.”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1" y="46132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Mateus, 7:7 e 8</a:t>
            </a:r>
          </a:p>
        </p:txBody>
      </p:sp>
    </p:spTree>
    <p:extLst>
      <p:ext uri="{BB962C8B-B14F-4D97-AF65-F5344CB8AC3E}">
        <p14:creationId xmlns:p14="http://schemas.microsoft.com/office/powerpoint/2010/main" val="80029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3072543"/>
          </a:xfrm>
        </p:spPr>
        <p:txBody>
          <a:bodyPr>
            <a:noAutofit/>
          </a:bodyPr>
          <a:lstStyle/>
          <a:p>
            <a:r>
              <a:rPr lang="pt-BR" sz="2800" i="1" dirty="0"/>
              <a:t>“Qual o homem, dentre vós, que dá uma pedra ao filho que lhe pede pão? — Ou, se pedir um peixe, dar-lhe-á uma serpente? — Ora, se, sendo maus como sois, sabeis dar boas coisas aos vossos filhos, não é lógico que, com mais forte razão, vosso Pai que está nos céus dê os bens verdadeiros aos que </a:t>
            </a:r>
            <a:r>
              <a:rPr lang="pt-BR" sz="2800" i="1" dirty="0" err="1"/>
              <a:t>lhos</a:t>
            </a:r>
            <a:r>
              <a:rPr lang="pt-BR" sz="2800" i="1" dirty="0"/>
              <a:t> pedirem?”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1" y="46132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Mateus, 7:9 a 11</a:t>
            </a:r>
          </a:p>
        </p:txBody>
      </p:sp>
    </p:spTree>
    <p:extLst>
      <p:ext uri="{BB962C8B-B14F-4D97-AF65-F5344CB8AC3E}">
        <p14:creationId xmlns:p14="http://schemas.microsoft.com/office/powerpoint/2010/main" val="254573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EEDD-5EF1-4EE4-3C7C-CBD0EDE3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116" y="4166713"/>
            <a:ext cx="4089884" cy="83932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Terreno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A129EA-D30E-0A72-2DCA-6A059559F634}"/>
              </a:ext>
            </a:extLst>
          </p:cNvPr>
          <p:cNvSpPr txBox="1">
            <a:spLocks/>
          </p:cNvSpPr>
          <p:nvPr/>
        </p:nvSpPr>
        <p:spPr>
          <a:xfrm>
            <a:off x="6096000" y="4166713"/>
            <a:ext cx="4089884" cy="839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Moral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2E9445-444C-FC98-2FCC-831798D0CAD5}"/>
              </a:ext>
            </a:extLst>
          </p:cNvPr>
          <p:cNvSpPr txBox="1">
            <a:spLocks/>
          </p:cNvSpPr>
          <p:nvPr/>
        </p:nvSpPr>
        <p:spPr>
          <a:xfrm>
            <a:off x="4051058" y="1321903"/>
            <a:ext cx="4089884" cy="733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Ponto de vista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414F6E8-79AB-D0D4-4C73-BF91EDB0BA44}"/>
              </a:ext>
            </a:extLst>
          </p:cNvPr>
          <p:cNvCxnSpPr>
            <a:stCxn id="8" idx="2"/>
            <a:endCxn id="2" idx="0"/>
          </p:cNvCxnSpPr>
          <p:nvPr/>
        </p:nvCxnSpPr>
        <p:spPr>
          <a:xfrm rot="5400000">
            <a:off x="4017777" y="2088489"/>
            <a:ext cx="2111505" cy="204494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E941DE3-DFF6-6412-B95B-72EB0910FAB1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rot="16200000" flipH="1">
            <a:off x="6062719" y="2088489"/>
            <a:ext cx="2111505" cy="204494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65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EEDD-5EF1-4EE4-3C7C-CBD0EDE3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116" y="4166713"/>
            <a:ext cx="4089884" cy="839320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Terreno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A129EA-D30E-0A72-2DCA-6A059559F634}"/>
              </a:ext>
            </a:extLst>
          </p:cNvPr>
          <p:cNvSpPr txBox="1">
            <a:spLocks/>
          </p:cNvSpPr>
          <p:nvPr/>
        </p:nvSpPr>
        <p:spPr>
          <a:xfrm>
            <a:off x="6096000" y="4166713"/>
            <a:ext cx="4089884" cy="839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Moral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2E9445-444C-FC98-2FCC-831798D0CAD5}"/>
              </a:ext>
            </a:extLst>
          </p:cNvPr>
          <p:cNvSpPr txBox="1">
            <a:spLocks/>
          </p:cNvSpPr>
          <p:nvPr/>
        </p:nvSpPr>
        <p:spPr>
          <a:xfrm>
            <a:off x="4051058" y="1321903"/>
            <a:ext cx="4089884" cy="733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Ponto de vista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414F6E8-79AB-D0D4-4C73-BF91EDB0BA44}"/>
              </a:ext>
            </a:extLst>
          </p:cNvPr>
          <p:cNvCxnSpPr>
            <a:stCxn id="8" idx="2"/>
            <a:endCxn id="2" idx="0"/>
          </p:cNvCxnSpPr>
          <p:nvPr/>
        </p:nvCxnSpPr>
        <p:spPr>
          <a:xfrm rot="5400000">
            <a:off x="4017777" y="2088489"/>
            <a:ext cx="2111505" cy="204494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E941DE3-DFF6-6412-B95B-72EB0910FAB1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rot="16200000" flipH="1">
            <a:off x="6062719" y="2088489"/>
            <a:ext cx="2111505" cy="204494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519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4089208"/>
          </a:xfrm>
        </p:spPr>
        <p:txBody>
          <a:bodyPr>
            <a:noAutofit/>
          </a:bodyPr>
          <a:lstStyle/>
          <a:p>
            <a:r>
              <a:rPr lang="pt-BR" sz="3200" dirty="0"/>
              <a:t>	“Do ponto de vista terreno, a máxima: </a:t>
            </a:r>
            <a:r>
              <a:rPr lang="pt-BR" sz="3200" i="1" dirty="0"/>
              <a:t>Buscai e achareis</a:t>
            </a:r>
            <a:r>
              <a:rPr lang="pt-BR" sz="3200" dirty="0"/>
              <a:t> é análoga a esta outra: </a:t>
            </a:r>
            <a:r>
              <a:rPr lang="pt-BR" sz="3200" i="1" dirty="0"/>
              <a:t>Ajuda-te a ti mesmo, que o céu te ajudará</a:t>
            </a:r>
            <a:r>
              <a:rPr lang="pt-BR" sz="3200" dirty="0"/>
              <a:t>. É o princípio da lei do trabalho e, por conseguinte, da lei do progresso, porquanto o progresso é filho do trabalho, visto que este põe em ação as forças da inteligência.”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XXV, item 2</a:t>
            </a:r>
          </a:p>
        </p:txBody>
      </p:sp>
    </p:spTree>
    <p:extLst>
      <p:ext uri="{BB962C8B-B14F-4D97-AF65-F5344CB8AC3E}">
        <p14:creationId xmlns:p14="http://schemas.microsoft.com/office/powerpoint/2010/main" val="366631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4089208"/>
          </a:xfrm>
        </p:spPr>
        <p:txBody>
          <a:bodyPr>
            <a:noAutofit/>
          </a:bodyPr>
          <a:lstStyle/>
          <a:p>
            <a:r>
              <a:rPr lang="pt-BR" sz="3200" dirty="0"/>
              <a:t>	“Do ponto de vista terreno, a máxima: </a:t>
            </a:r>
            <a:r>
              <a:rPr lang="pt-BR" sz="3200" i="1" dirty="0"/>
              <a:t>Buscai e achareis</a:t>
            </a:r>
            <a:r>
              <a:rPr lang="pt-BR" sz="3200" dirty="0"/>
              <a:t> é análoga a esta outra: </a:t>
            </a:r>
            <a:r>
              <a:rPr lang="pt-BR" sz="3200" i="1" dirty="0"/>
              <a:t>Ajuda-te a ti mesmo, que o céu te ajudará</a:t>
            </a:r>
            <a:r>
              <a:rPr lang="pt-BR" sz="3200" dirty="0"/>
              <a:t>. É o princípio da lei do trabalho e, por conseguinte, da lei do progresso, porquanto </a:t>
            </a:r>
            <a:r>
              <a:rPr lang="pt-BR" sz="3200" u="sng" dirty="0"/>
              <a:t>o progresso é filho do trabalho</a:t>
            </a:r>
            <a:r>
              <a:rPr lang="pt-BR" sz="3200" dirty="0"/>
              <a:t>, visto que este põe em ação as forças da inteligência.”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XXV, item 2</a:t>
            </a:r>
          </a:p>
        </p:txBody>
      </p:sp>
    </p:spTree>
    <p:extLst>
      <p:ext uri="{BB962C8B-B14F-4D97-AF65-F5344CB8AC3E}">
        <p14:creationId xmlns:p14="http://schemas.microsoft.com/office/powerpoint/2010/main" val="77546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A55F051-97DE-49FF-BB21-0EDA63C2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1612B4-AD89-404E-AE2A-48CCF1FE0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rgbClr val="7A89BB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in a field&#10;&#10;Description automatically generated">
            <a:extLst>
              <a:ext uri="{FF2B5EF4-FFF2-40B4-BE49-F238E27FC236}">
                <a16:creationId xmlns:a16="http://schemas.microsoft.com/office/drawing/2014/main" id="{6C2F29C4-01A8-2365-1E5C-A775A7C79B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3214" r="1" b="29223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BC9AF9-0E42-4FB5-454C-6B2195CFAA61}"/>
              </a:ext>
            </a:extLst>
          </p:cNvPr>
          <p:cNvSpPr txBox="1"/>
          <p:nvPr/>
        </p:nvSpPr>
        <p:spPr>
          <a:xfrm>
            <a:off x="8675631" y="6014478"/>
            <a:ext cx="287290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4" tooltip="https://culturacientifica.com/2017/11/10/la-compleja-transicion-cazador-recolector-agricultor/transicion-de-cazador-recolecto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by Unknown Author is licensed under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98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A55F051-97DE-49FF-BB21-0EDA63C2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1612B4-AD89-404E-AE2A-48CCF1FE0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rgbClr val="778DA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pulling a large oxen&#10;&#10;Description automatically generated with medium confidence">
            <a:extLst>
              <a:ext uri="{FF2B5EF4-FFF2-40B4-BE49-F238E27FC236}">
                <a16:creationId xmlns:a16="http://schemas.microsoft.com/office/drawing/2014/main" id="{98090A00-2128-57DF-C368-A8FD6A816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233" r="1" b="203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2B0077-6D54-9A6A-6C4D-FDF85300F0ED}"/>
              </a:ext>
            </a:extLst>
          </p:cNvPr>
          <p:cNvSpPr txBox="1"/>
          <p:nvPr/>
        </p:nvSpPr>
        <p:spPr>
          <a:xfrm>
            <a:off x="8675632" y="6014478"/>
            <a:ext cx="287290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www.flickr.com/photos/adavey/316228684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by Unknown Author is licensed under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49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41D049E-2C7B-4131-B81E-E5B643BD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635463-D121-4B16-AB61-D492DD3F0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oup of people walking in a village&#10;&#10;Description automatically generated">
            <a:extLst>
              <a:ext uri="{FF2B5EF4-FFF2-40B4-BE49-F238E27FC236}">
                <a16:creationId xmlns:a16="http://schemas.microsoft.com/office/drawing/2014/main" id="{76C0AF92-49C3-F4D0-F0E6-CF037E912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3941" y="643467"/>
            <a:ext cx="990411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1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A55F051-97DE-49FF-BB21-0EDA63C2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1612B4-AD89-404E-AE2A-48CCF1FE0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rgbClr val="C39C6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ainting of a factory&#10;&#10;Description automatically generated">
            <a:extLst>
              <a:ext uri="{FF2B5EF4-FFF2-40B4-BE49-F238E27FC236}">
                <a16:creationId xmlns:a16="http://schemas.microsoft.com/office/drawing/2014/main" id="{5E1F9804-C271-AB3B-69C3-3949FF39F4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179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8037B7-B6D3-E1D8-D523-86C88664BE2D}"/>
              </a:ext>
            </a:extLst>
          </p:cNvPr>
          <p:cNvSpPr txBox="1"/>
          <p:nvPr/>
        </p:nvSpPr>
        <p:spPr>
          <a:xfrm>
            <a:off x="8675632" y="6014478"/>
            <a:ext cx="287290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www.sepam.com.br/blog/revolucao-industrial-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by Unknown Author is licensed under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142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55F051-97DE-49FF-BB21-0EDA63C2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1612B4-AD89-404E-AE2A-48CCF1FE0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white photo of a street with cars and people&#10;&#10;Description automatically generated">
            <a:extLst>
              <a:ext uri="{FF2B5EF4-FFF2-40B4-BE49-F238E27FC236}">
                <a16:creationId xmlns:a16="http://schemas.microsoft.com/office/drawing/2014/main" id="{3C935899-32F5-E8CA-9DEC-BC07FB9DC6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1177" r="1" b="5842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B0D8B-DB51-7AA4-943F-64EFF47340FA}"/>
              </a:ext>
            </a:extLst>
          </p:cNvPr>
          <p:cNvSpPr txBox="1"/>
          <p:nvPr/>
        </p:nvSpPr>
        <p:spPr>
          <a:xfrm>
            <a:off x="8698073" y="6014478"/>
            <a:ext cx="28504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confins.revues.org/103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by Unknown Author is licensed under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49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1F56FB-5E45-4350-BA6B-711E868CA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752C83-BC04-4990-9D69-7C2B8C05E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5400" cap="sq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n astronaut standing on the moon&#10;&#10;Description automatically generated">
            <a:extLst>
              <a:ext uri="{FF2B5EF4-FFF2-40B4-BE49-F238E27FC236}">
                <a16:creationId xmlns:a16="http://schemas.microsoft.com/office/drawing/2014/main" id="{01360A0A-7975-62DD-FA4A-722B0C44DF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571" r="2" b="2"/>
          <a:stretch/>
        </p:blipFill>
        <p:spPr>
          <a:xfrm>
            <a:off x="6199440" y="643467"/>
            <a:ext cx="5372099" cy="5571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4FD312-7A5E-F851-6862-D99A509D4A42}"/>
              </a:ext>
            </a:extLst>
          </p:cNvPr>
          <p:cNvSpPr txBox="1"/>
          <p:nvPr/>
        </p:nvSpPr>
        <p:spPr>
          <a:xfrm>
            <a:off x="8721080" y="6014478"/>
            <a:ext cx="285045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4" tooltip="https://www.astroblogs.nl/tag/apollo-11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 err="1">
                <a:solidFill>
                  <a:srgbClr val="FFFFFF"/>
                </a:solidFill>
              </a:rPr>
              <a:t>by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 err="1">
                <a:solidFill>
                  <a:srgbClr val="FFFFFF"/>
                </a:solidFill>
              </a:rPr>
              <a:t>Unknown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 err="1">
                <a:solidFill>
                  <a:srgbClr val="FFFFFF"/>
                </a:solidFill>
              </a:rPr>
              <a:t>Author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 err="1">
                <a:solidFill>
                  <a:srgbClr val="FFFFFF"/>
                </a:solidFill>
              </a:rPr>
              <a:t>is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 err="1">
                <a:solidFill>
                  <a:srgbClr val="FFFFFF"/>
                </a:solidFill>
              </a:rPr>
              <a:t>licensed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 err="1">
                <a:solidFill>
                  <a:srgbClr val="FFFFFF"/>
                </a:solidFill>
              </a:rPr>
              <a:t>under</a:t>
            </a:r>
            <a:r>
              <a:rPr lang="pt-BR" sz="700">
                <a:solidFill>
                  <a:srgbClr val="FFFFFF"/>
                </a:solidFill>
              </a:rPr>
              <a:t>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  <p:pic>
        <p:nvPicPr>
          <p:cNvPr id="8" name="Picture 7" descr="A satellite orbiting earth in space&#10;&#10;Description automatically generated">
            <a:extLst>
              <a:ext uri="{FF2B5EF4-FFF2-40B4-BE49-F238E27FC236}">
                <a16:creationId xmlns:a16="http://schemas.microsoft.com/office/drawing/2014/main" id="{C63C7C74-0B4A-E876-1209-CE55B65454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0390" r="25968" b="2"/>
          <a:stretch/>
        </p:blipFill>
        <p:spPr>
          <a:xfrm>
            <a:off x="620461" y="643467"/>
            <a:ext cx="5372099" cy="5571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D15BD3-BF35-92F0-E808-58D3236E28E1}"/>
              </a:ext>
            </a:extLst>
          </p:cNvPr>
          <p:cNvSpPr txBox="1"/>
          <p:nvPr/>
        </p:nvSpPr>
        <p:spPr>
          <a:xfrm>
            <a:off x="3142100" y="6014478"/>
            <a:ext cx="28504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7" tooltip="https://tourhistoria.es/2019/10/la-urss-lanza-el-sputnik-i-el-4-de-octubre-del-1957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pt-BR" sz="700">
                <a:solidFill>
                  <a:srgbClr val="FFFFFF"/>
                </a:solidFill>
              </a:rPr>
              <a:t> by Unknown Author is licensed under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67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3AD5-0F08-410C-AFBF-8DE7803C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Trabalho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D0215-6692-4E62-82C7-4D8676373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Livro dos Espíritos, parte 2ª, cap. III</a:t>
            </a:r>
          </a:p>
        </p:txBody>
      </p:sp>
    </p:spTree>
    <p:extLst>
      <p:ext uri="{BB962C8B-B14F-4D97-AF65-F5344CB8AC3E}">
        <p14:creationId xmlns:p14="http://schemas.microsoft.com/office/powerpoint/2010/main" val="3651590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7B820-1988-0AD6-43DB-E19CBCB5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Trabalho</a:t>
            </a:r>
            <a:br>
              <a:rPr lang="pt-BR" dirty="0"/>
            </a:br>
            <a:r>
              <a:rPr lang="pt-BR" sz="1800" dirty="0"/>
              <a:t>O Livro dos Espíritos, parte 2ª, cap. III</a:t>
            </a:r>
            <a:endParaRPr lang="pt-BR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E3531B-1743-8135-759E-8E1B1834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674. </a:t>
            </a:r>
            <a:r>
              <a:rPr lang="pt-BR" sz="2800" i="1" dirty="0"/>
              <a:t>A necessidade do trabalho é lei da natureza?</a:t>
            </a:r>
            <a:r>
              <a:rPr lang="pt-BR" sz="2800" dirty="0"/>
              <a:t>	</a:t>
            </a:r>
          </a:p>
          <a:p>
            <a:pPr marL="0" indent="0">
              <a:buNone/>
            </a:pPr>
            <a:r>
              <a:rPr lang="pt-BR" sz="2800" dirty="0"/>
              <a:t>“O trabalho é lei da natureza, por isso mesmo que constitui uma necessidade, e a civilização obriga o homem a trabalhar mais, porque lhe aumenta as necessidades e os gozos.”</a:t>
            </a:r>
          </a:p>
        </p:txBody>
      </p:sp>
    </p:spTree>
    <p:extLst>
      <p:ext uri="{BB962C8B-B14F-4D97-AF65-F5344CB8AC3E}">
        <p14:creationId xmlns:p14="http://schemas.microsoft.com/office/powerpoint/2010/main" val="402649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7B820-1988-0AD6-43DB-E19CBCB5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Trabalho</a:t>
            </a:r>
            <a:br>
              <a:rPr lang="pt-BR" dirty="0"/>
            </a:br>
            <a:r>
              <a:rPr lang="pt-BR" sz="2000" dirty="0"/>
              <a:t>O Livro dos Espíritos, parte 2ª, cap. III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E3531B-1743-8135-759E-8E1B1834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675. </a:t>
            </a:r>
            <a:r>
              <a:rPr lang="pt-BR" sz="2800" i="1" dirty="0"/>
              <a:t>Por trabalho só se devem entender as ocupações materiais?</a:t>
            </a:r>
          </a:p>
          <a:p>
            <a:pPr marL="0" indent="0">
              <a:buNone/>
            </a:pPr>
            <a:r>
              <a:rPr lang="pt-BR" sz="2800" dirty="0"/>
              <a:t>“Não; o Espírito trabalha, assim como o corpo. Toda ocupação útil é trabalho.”</a:t>
            </a:r>
          </a:p>
        </p:txBody>
      </p:sp>
    </p:spTree>
    <p:extLst>
      <p:ext uri="{BB962C8B-B14F-4D97-AF65-F5344CB8AC3E}">
        <p14:creationId xmlns:p14="http://schemas.microsoft.com/office/powerpoint/2010/main" val="202615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7B820-1988-0AD6-43DB-E19CBCB5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Trabalho</a:t>
            </a:r>
            <a:br>
              <a:rPr lang="pt-BR" dirty="0"/>
            </a:br>
            <a:r>
              <a:rPr lang="pt-BR" sz="2000" dirty="0"/>
              <a:t>O Livro dos Espíritos, parte 2ª, cap. III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E3531B-1743-8135-759E-8E1B1834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676. </a:t>
            </a:r>
            <a:r>
              <a:rPr lang="pt-BR" sz="2800" i="1" dirty="0"/>
              <a:t>Por que o trabalho se impõe ao homem?</a:t>
            </a:r>
          </a:p>
          <a:p>
            <a:pPr marL="0" indent="0">
              <a:buNone/>
            </a:pPr>
            <a:r>
              <a:rPr lang="pt-BR" sz="2800" dirty="0"/>
              <a:t>“Por ser uma consequência da sua natureza corpórea. É expiação e, ao mesmo tempo, meio de aperfeiçoamento da sua inteligência. Sem o trabalho, o homem permaneceria sempre na infância, quanto à inteligência (...)”</a:t>
            </a:r>
          </a:p>
        </p:txBody>
      </p:sp>
    </p:spTree>
    <p:extLst>
      <p:ext uri="{BB962C8B-B14F-4D97-AF65-F5344CB8AC3E}">
        <p14:creationId xmlns:p14="http://schemas.microsoft.com/office/powerpoint/2010/main" val="314181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3AD5-0F08-410C-AFBF-8DE7803C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Progresso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D0215-6692-4E62-82C7-4D8676373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Livro dos Espíritos, parte 2ª, cap. VIII</a:t>
            </a:r>
          </a:p>
        </p:txBody>
      </p:sp>
    </p:spTree>
    <p:extLst>
      <p:ext uri="{BB962C8B-B14F-4D97-AF65-F5344CB8AC3E}">
        <p14:creationId xmlns:p14="http://schemas.microsoft.com/office/powerpoint/2010/main" val="841387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7B820-1988-0AD6-43DB-E19CBCB5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Progresso</a:t>
            </a:r>
            <a:br>
              <a:rPr lang="pt-BR" dirty="0"/>
            </a:br>
            <a:r>
              <a:rPr lang="pt-BR" sz="2000" dirty="0"/>
              <a:t>O Livro dos Espíritos, parte 2ª, cap. VIII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E3531B-1743-8135-759E-8E1B1834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780. </a:t>
            </a:r>
            <a:r>
              <a:rPr lang="pt-BR" sz="2800" i="1" dirty="0"/>
              <a:t>O progresso moral acompanha sempre o progresso intelectual?</a:t>
            </a:r>
          </a:p>
          <a:p>
            <a:pPr marL="0" indent="0">
              <a:buNone/>
            </a:pPr>
            <a:r>
              <a:rPr lang="pt-BR" sz="2800" dirty="0"/>
              <a:t>“Decorre deste, mas nem sempre o segue </a:t>
            </a:r>
            <a:r>
              <a:rPr lang="pt-BR" sz="2800" i="1" dirty="0"/>
              <a:t>imediatamente</a:t>
            </a:r>
            <a:r>
              <a:rPr lang="pt-BR" sz="28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680810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7B820-1988-0AD6-43DB-E19CBCB5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 Progresso</a:t>
            </a:r>
            <a:br>
              <a:rPr lang="pt-BR" dirty="0"/>
            </a:br>
            <a:r>
              <a:rPr lang="pt-BR" sz="2000" dirty="0"/>
              <a:t>O Livro dos Espíritos, parte 2ª, cap. VIII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E3531B-1743-8135-759E-8E1B1834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a) — </a:t>
            </a:r>
            <a:r>
              <a:rPr lang="pt-BR" sz="2800" i="1" dirty="0"/>
              <a:t>Como pode o progresso intelectual engendrar o progresso moral?</a:t>
            </a:r>
          </a:p>
          <a:p>
            <a:pPr marL="0" indent="0">
              <a:buNone/>
            </a:pPr>
            <a:r>
              <a:rPr lang="pt-BR" sz="2800" dirty="0"/>
              <a:t>“Fazendo compreensíveis o bem e o mal. O homem, desde então, pode escolher. O desenvolvimento do livre-arbítrio acompanha o da inteligência e aumenta a responsabilidade dos atos.”</a:t>
            </a:r>
          </a:p>
        </p:txBody>
      </p:sp>
    </p:spTree>
    <p:extLst>
      <p:ext uri="{BB962C8B-B14F-4D97-AF65-F5344CB8AC3E}">
        <p14:creationId xmlns:p14="http://schemas.microsoft.com/office/powerpoint/2010/main" val="4010493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EEDD-5EF1-4EE4-3C7C-CBD0EDE3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168" y="3269976"/>
            <a:ext cx="2701253" cy="83932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Trabalho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A129EA-D30E-0A72-2DCA-6A059559F634}"/>
              </a:ext>
            </a:extLst>
          </p:cNvPr>
          <p:cNvSpPr txBox="1">
            <a:spLocks/>
          </p:cNvSpPr>
          <p:nvPr/>
        </p:nvSpPr>
        <p:spPr>
          <a:xfrm>
            <a:off x="8498421" y="4950797"/>
            <a:ext cx="2844179" cy="7421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Progresso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2E9445-444C-FC98-2FCC-831798D0CAD5}"/>
              </a:ext>
            </a:extLst>
          </p:cNvPr>
          <p:cNvSpPr txBox="1">
            <a:spLocks/>
          </p:cNvSpPr>
          <p:nvPr/>
        </p:nvSpPr>
        <p:spPr>
          <a:xfrm>
            <a:off x="2513805" y="1331842"/>
            <a:ext cx="3582195" cy="11131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Necessidades materiais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414F6E8-79AB-D0D4-4C73-BF91EDB0BA44}"/>
              </a:ext>
            </a:extLst>
          </p:cNvPr>
          <p:cNvCxnSpPr>
            <a:cxnSpLocks/>
            <a:stCxn id="8" idx="2"/>
            <a:endCxn id="2" idx="1"/>
          </p:cNvCxnSpPr>
          <p:nvPr/>
        </p:nvCxnSpPr>
        <p:spPr>
          <a:xfrm rot="16200000" flipH="1">
            <a:off x="4428730" y="2321198"/>
            <a:ext cx="1244610" cy="1492265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E941DE3-DFF6-6412-B95B-72EB0910FAB1}"/>
              </a:ext>
            </a:extLst>
          </p:cNvPr>
          <p:cNvCxnSpPr>
            <a:cxnSpLocks/>
            <a:stCxn id="2" idx="2"/>
            <a:endCxn id="5" idx="1"/>
          </p:cNvCxnSpPr>
          <p:nvPr/>
        </p:nvCxnSpPr>
        <p:spPr>
          <a:xfrm rot="16200000" flipH="1">
            <a:off x="7216821" y="4040270"/>
            <a:ext cx="1212575" cy="1350626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208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585-DC76-26C8-406C-9DC370A5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Ajuda-te a ti mesmo, que o céu te ajudará.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F58CD-0634-8D97-0E29-33DE932F3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Evangelho Segundo o Espiritismo, cap. XXV.</a:t>
            </a:r>
          </a:p>
          <a:p>
            <a:r>
              <a:rPr lang="pt-BR" dirty="0"/>
              <a:t>Allan Kardec.</a:t>
            </a:r>
          </a:p>
        </p:txBody>
      </p:sp>
    </p:spTree>
    <p:extLst>
      <p:ext uri="{BB962C8B-B14F-4D97-AF65-F5344CB8AC3E}">
        <p14:creationId xmlns:p14="http://schemas.microsoft.com/office/powerpoint/2010/main" val="2392524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003852"/>
            <a:ext cx="8915399" cy="4469752"/>
          </a:xfrm>
        </p:spPr>
        <p:txBody>
          <a:bodyPr>
            <a:noAutofit/>
          </a:bodyPr>
          <a:lstStyle/>
          <a:p>
            <a:r>
              <a:rPr lang="pt-BR" sz="2800" dirty="0"/>
              <a:t>	“Se Deus houvesse isentado do trabalho do corpo o homem, seus membros se teriam atrofiado; se o houvesse isentado do trabalho da inteligência, seu espírito teria permanecido na infância, no estado de instinto animal. Por isso é que lhe fez do trabalho uma necessidade e lhe disse: Procura e acharás; trabalha e produzirás. Dessa maneira serás filho das tuas obras, terás delas o mérito e serás recompensado de acordo com o que hajas feito.”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XXV, item 3</a:t>
            </a:r>
          </a:p>
        </p:txBody>
      </p:sp>
    </p:spTree>
    <p:extLst>
      <p:ext uri="{BB962C8B-B14F-4D97-AF65-F5344CB8AC3E}">
        <p14:creationId xmlns:p14="http://schemas.microsoft.com/office/powerpoint/2010/main" val="2109097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EEDD-5EF1-4EE4-3C7C-CBD0EDE3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116" y="4166713"/>
            <a:ext cx="4089884" cy="83932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Terreno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A129EA-D30E-0A72-2DCA-6A059559F634}"/>
              </a:ext>
            </a:extLst>
          </p:cNvPr>
          <p:cNvSpPr txBox="1">
            <a:spLocks/>
          </p:cNvSpPr>
          <p:nvPr/>
        </p:nvSpPr>
        <p:spPr>
          <a:xfrm>
            <a:off x="6096000" y="4166713"/>
            <a:ext cx="4089884" cy="839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b="1" dirty="0"/>
              <a:t>Moral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2E9445-444C-FC98-2FCC-831798D0CAD5}"/>
              </a:ext>
            </a:extLst>
          </p:cNvPr>
          <p:cNvSpPr txBox="1">
            <a:spLocks/>
          </p:cNvSpPr>
          <p:nvPr/>
        </p:nvSpPr>
        <p:spPr>
          <a:xfrm>
            <a:off x="4051058" y="1321903"/>
            <a:ext cx="4089884" cy="733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/>
              <a:t>Ponto de vista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414F6E8-79AB-D0D4-4C73-BF91EDB0BA44}"/>
              </a:ext>
            </a:extLst>
          </p:cNvPr>
          <p:cNvCxnSpPr>
            <a:stCxn id="8" idx="2"/>
            <a:endCxn id="2" idx="0"/>
          </p:cNvCxnSpPr>
          <p:nvPr/>
        </p:nvCxnSpPr>
        <p:spPr>
          <a:xfrm rot="5400000">
            <a:off x="4017777" y="2088489"/>
            <a:ext cx="2111505" cy="204494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EE941DE3-DFF6-6412-B95B-72EB0910FAB1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rot="16200000" flipH="1">
            <a:off x="6062719" y="2088489"/>
            <a:ext cx="2111505" cy="2044942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681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003852"/>
            <a:ext cx="8915399" cy="4469752"/>
          </a:xfrm>
        </p:spPr>
        <p:txBody>
          <a:bodyPr anchor="ctr">
            <a:noAutofit/>
          </a:bodyPr>
          <a:lstStyle/>
          <a:p>
            <a:r>
              <a:rPr lang="pt-BR" sz="2800" dirty="0"/>
              <a:t>	“Do ponto de vista moral, essas palavras de Jesus significam: Pedi a luz que vos clareie o caminho e ela vos será dada; pedi forças para resistirdes ao mal e as tereis; pedi a assistência dos bons Espíritos e eles virão acompanhar-vos e, como o anjo de Tobias, vos guiarão; pedi bons conselhos e eles não vos serão jamais recusados; batei à nossa porta e ela se vos abrirá; (...)”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XXV, item 5</a:t>
            </a:r>
          </a:p>
        </p:txBody>
      </p:sp>
    </p:spTree>
    <p:extLst>
      <p:ext uri="{BB962C8B-B14F-4D97-AF65-F5344CB8AC3E}">
        <p14:creationId xmlns:p14="http://schemas.microsoft.com/office/powerpoint/2010/main" val="1174339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003852"/>
            <a:ext cx="8915399" cy="4469752"/>
          </a:xfrm>
        </p:spPr>
        <p:txBody>
          <a:bodyPr anchor="ctr">
            <a:noAutofit/>
          </a:bodyPr>
          <a:lstStyle/>
          <a:p>
            <a:r>
              <a:rPr lang="pt-BR" sz="2800" dirty="0"/>
              <a:t>“mas, pedi sinceramente, com fé, confiança e fervor; apresentai-vos com humildade e não com arrogância, sem o que sereis abandonados às vossas próprias forças e as quedas que derdes serão o castigo do vosso orgulho.”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XXV, item 5</a:t>
            </a:r>
          </a:p>
        </p:txBody>
      </p:sp>
    </p:spTree>
    <p:extLst>
      <p:ext uri="{BB962C8B-B14F-4D97-AF65-F5344CB8AC3E}">
        <p14:creationId xmlns:p14="http://schemas.microsoft.com/office/powerpoint/2010/main" val="892116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585-DC76-26C8-406C-9DC370A5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Qualidades da Prece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F58CD-0634-8D97-0E29-33DE932F3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Evangelho Segundo o Espiritismo, cap. XXVII.</a:t>
            </a:r>
          </a:p>
          <a:p>
            <a:r>
              <a:rPr lang="pt-BR" dirty="0"/>
              <a:t>Allan Kardec.</a:t>
            </a:r>
          </a:p>
        </p:txBody>
      </p:sp>
    </p:spTree>
    <p:extLst>
      <p:ext uri="{BB962C8B-B14F-4D97-AF65-F5344CB8AC3E}">
        <p14:creationId xmlns:p14="http://schemas.microsoft.com/office/powerpoint/2010/main" val="997552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003852"/>
            <a:ext cx="8915399" cy="4469752"/>
          </a:xfrm>
        </p:spPr>
        <p:txBody>
          <a:bodyPr anchor="ctr">
            <a:noAutofit/>
          </a:bodyPr>
          <a:lstStyle/>
          <a:p>
            <a:r>
              <a:rPr lang="pt-BR" sz="2800" dirty="0"/>
              <a:t>“(...) O que Deus lhe concederá sempre, se ele o pedir com confiança, é a </a:t>
            </a:r>
            <a:r>
              <a:rPr lang="pt-BR" sz="2800" b="1" dirty="0"/>
              <a:t>coragem</a:t>
            </a:r>
            <a:r>
              <a:rPr lang="pt-BR" sz="2800" dirty="0"/>
              <a:t>, a </a:t>
            </a:r>
            <a:r>
              <a:rPr lang="pt-BR" sz="2800" b="1" dirty="0"/>
              <a:t>paciência</a:t>
            </a:r>
            <a:r>
              <a:rPr lang="pt-BR" sz="2800" dirty="0"/>
              <a:t>, a </a:t>
            </a:r>
            <a:r>
              <a:rPr lang="pt-BR" sz="2800" b="1" dirty="0"/>
              <a:t>resignação</a:t>
            </a:r>
            <a:r>
              <a:rPr lang="pt-BR" sz="2800" dirty="0"/>
              <a:t>. Também lhe concederá os meios de se tirar por si mesmo das dificuldades, mediante ideias que fará lhe sugiram os bons Espíritos, deixando-lhe dessa forma o mérito da ação.”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XXVII, item 7</a:t>
            </a:r>
          </a:p>
        </p:txBody>
      </p:sp>
    </p:spTree>
    <p:extLst>
      <p:ext uri="{BB962C8B-B14F-4D97-AF65-F5344CB8AC3E}">
        <p14:creationId xmlns:p14="http://schemas.microsoft.com/office/powerpoint/2010/main" val="1227291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003852"/>
            <a:ext cx="8915399" cy="4469752"/>
          </a:xfrm>
        </p:spPr>
        <p:txBody>
          <a:bodyPr anchor="ctr">
            <a:noAutofit/>
          </a:bodyPr>
          <a:lstStyle/>
          <a:p>
            <a:r>
              <a:rPr lang="pt-BR" sz="2800" dirty="0"/>
              <a:t>“Ele assiste os que se ajudam a si mesmos, de conformidade com esta máxima: “</a:t>
            </a:r>
            <a:r>
              <a:rPr lang="pt-BR" sz="2800" i="1" dirty="0"/>
              <a:t>Ajuda-te, que o céu te ajudará</a:t>
            </a:r>
            <a:r>
              <a:rPr lang="pt-BR" sz="2800" dirty="0"/>
              <a:t>”; não assiste, porém, os que tudo esperam de um socorro estranho, sem fazer uso das faculdades que possui. Entretanto, as mais das vezes, o que o homem quer é ser socorrido por milagre, sem despender o mínimo esforço.”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0" y="54736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ESE, cap XXVII, item 7</a:t>
            </a:r>
          </a:p>
        </p:txBody>
      </p:sp>
    </p:spTree>
    <p:extLst>
      <p:ext uri="{BB962C8B-B14F-4D97-AF65-F5344CB8AC3E}">
        <p14:creationId xmlns:p14="http://schemas.microsoft.com/office/powerpoint/2010/main" val="3574075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585-DC76-26C8-406C-9DC370A5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Bom ânimo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F58CD-0634-8D97-0E29-33DE932F3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Boa Nova, cap. 8.</a:t>
            </a:r>
          </a:p>
          <a:p>
            <a:r>
              <a:rPr lang="pt-BR" dirty="0"/>
              <a:t>Humberto de Campos / Chico Xavier.</a:t>
            </a:r>
          </a:p>
        </p:txBody>
      </p:sp>
    </p:spTree>
    <p:extLst>
      <p:ext uri="{BB962C8B-B14F-4D97-AF65-F5344CB8AC3E}">
        <p14:creationId xmlns:p14="http://schemas.microsoft.com/office/powerpoint/2010/main" val="3250231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F07EB3-4C44-30F0-8052-80E8AAFE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0" y="1384396"/>
            <a:ext cx="8915399" cy="3072543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“Pedi e se vos dará; buscai e achareis; batei à porta e se vos abrirá; porquanto quem pede recebe e quem procura acha, e àquele que bata à porta, abrir-se-á.”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0DB315-65B7-67FA-BB17-941DB0A9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1" y="4613204"/>
            <a:ext cx="8915399" cy="860400"/>
          </a:xfrm>
        </p:spPr>
        <p:txBody>
          <a:bodyPr/>
          <a:lstStyle/>
          <a:p>
            <a:pPr algn="r"/>
            <a:r>
              <a:rPr lang="pt-BR" dirty="0"/>
              <a:t>Mateus, 7:7 e 8</a:t>
            </a:r>
          </a:p>
        </p:txBody>
      </p:sp>
    </p:spTree>
    <p:extLst>
      <p:ext uri="{BB962C8B-B14F-4D97-AF65-F5344CB8AC3E}">
        <p14:creationId xmlns:p14="http://schemas.microsoft.com/office/powerpoint/2010/main" val="29326344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79</TotalTime>
  <Words>1328</Words>
  <Application>Microsoft Office PowerPoint</Application>
  <PresentationFormat>Widescreen</PresentationFormat>
  <Paragraphs>95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Century Gothic</vt:lpstr>
      <vt:lpstr>Wingdings 3</vt:lpstr>
      <vt:lpstr>Wisp</vt:lpstr>
      <vt:lpstr>Ajuda-te a ti mesmo, que o céu te ajudará</vt:lpstr>
      <vt:lpstr>“Pedi e se vos dará; buscai e achareis; batei à porta e se vos abrirá; porquanto quem pede recebe e quem procura acha, e àquele que bata à porta, abrir-se-á.”</vt:lpstr>
      <vt:lpstr>“Qual o homem, dentre vós, que dá uma pedra ao filho que lhe pede pão? — Ou, se pedir um peixe, dar-lhe-á uma serpente? — Ora, se, sendo maus como sois, sabeis dar boas coisas aos vossos filhos, não é lógico que, com mais forte razão, vosso Pai que está nos céus dê os bens verdadeiros aos que lhos pedirem?”</vt:lpstr>
      <vt:lpstr>PowerPoint Presentation</vt:lpstr>
      <vt:lpstr>“Pedi e se vos dará; buscai e achareis; batei à porta e se vos abrirá; porquanto quem pede recebe e quem procura acha, e àquele que bata à porta, abrir-se-á.”</vt:lpstr>
      <vt:lpstr>“Qual o homem, dentre vós, que dá uma pedra ao filho que lhe pede pão? — Ou, se pedir um peixe, dar-lhe-á uma serpente? — Ora, se, sendo maus como sois, sabeis dar boas coisas aos vossos filhos, não é lógico que, com mais forte razão, vosso Pai que está nos céus dê os bens verdadeiros aos que lhos pedirem?”</vt:lpstr>
      <vt:lpstr>Terreno</vt:lpstr>
      <vt:lpstr>Terreno</vt:lpstr>
      <vt:lpstr> “Do ponto de vista terreno, a máxima: Buscai e achareis é análoga a esta outra: Ajuda-te a ti mesmo, que o céu te ajudará. É o princípio da lei do trabalho e, por conseguinte, da lei do progresso, porquanto o progresso é filho do trabalho, visto que este põe em ação as forças da inteligência.”</vt:lpstr>
      <vt:lpstr> “Do ponto de vista terreno, a máxima: Buscai e achareis é análoga a esta outra: Ajuda-te a ti mesmo, que o céu te ajudará. É o princípio da lei do trabalho e, por conseguinte, da lei do progresso, porquanto o progresso é filho do trabalho, visto que este põe em ação as forças da inteligência.”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Lei do Trabalho</vt:lpstr>
      <vt:lpstr>Lei do Trabalho O Livro dos Espíritos, parte 2ª, cap. III</vt:lpstr>
      <vt:lpstr>Lei do Trabalho O Livro dos Espíritos, parte 2ª, cap. III</vt:lpstr>
      <vt:lpstr>Lei do Trabalho O Livro dos Espíritos, parte 2ª, cap. III</vt:lpstr>
      <vt:lpstr>Lei do Progresso</vt:lpstr>
      <vt:lpstr>Lei do Progresso O Livro dos Espíritos, parte 2ª, cap. VIII</vt:lpstr>
      <vt:lpstr>Lei do Progresso O Livro dos Espíritos, parte 2ª, cap. VIII</vt:lpstr>
      <vt:lpstr>Trabalho</vt:lpstr>
      <vt:lpstr>Ajuda-te a ti mesmo, que o céu te ajudará.</vt:lpstr>
      <vt:lpstr> “Se Deus houvesse isentado do trabalho do corpo o homem, seus membros se teriam atrofiado; se o houvesse isentado do trabalho da inteligência, seu espírito teria permanecido na infância, no estado de instinto animal. Por isso é que lhe fez do trabalho uma necessidade e lhe disse: Procura e acharás; trabalha e produzirás. Dessa maneira serás filho das tuas obras, terás delas o mérito e serás recompensado de acordo com o que hajas feito.”</vt:lpstr>
      <vt:lpstr>Terreno</vt:lpstr>
      <vt:lpstr> “Do ponto de vista moral, essas palavras de Jesus significam: Pedi a luz que vos clareie o caminho e ela vos será dada; pedi forças para resistirdes ao mal e as tereis; pedi a assistência dos bons Espíritos e eles virão acompanhar-vos e, como o anjo de Tobias, vos guiarão; pedi bons conselhos e eles não vos serão jamais recusados; batei à nossa porta e ela se vos abrirá; (...)”</vt:lpstr>
      <vt:lpstr>“mas, pedi sinceramente, com fé, confiança e fervor; apresentai-vos com humildade e não com arrogância, sem o que sereis abandonados às vossas próprias forças e as quedas que derdes serão o castigo do vosso orgulho.”</vt:lpstr>
      <vt:lpstr>Qualidades da Prece</vt:lpstr>
      <vt:lpstr>“(...) O que Deus lhe concederá sempre, se ele o pedir com confiança, é a coragem, a paciência, a resignação. Também lhe concederá os meios de se tirar por si mesmo das dificuldades, mediante ideias que fará lhe sugiram os bons Espíritos, deixando-lhe dessa forma o mérito da ação.”</vt:lpstr>
      <vt:lpstr>“Ele assiste os que se ajudam a si mesmos, de conformidade com esta máxima: “Ajuda-te, que o céu te ajudará”; não assiste, porém, os que tudo esperam de um socorro estranho, sem fazer uso das faculdades que possui. Entretanto, as mais das vezes, o que o homem quer é ser socorrido por milagre, sem despender o mínimo esforço.”</vt:lpstr>
      <vt:lpstr>Bom ânimo</vt:lpstr>
      <vt:lpstr>“Pedi e se vos dará; buscai e achareis; batei à porta e se vos abrirá; porquanto quem pede recebe e quem procura acha, e àquele que bata à porta, abrir-se-á.”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Ajuda-te a ti mesmo, que o céu te ajudará</dc:title>
  <dc:creator>Gabriel Mendonça</dc:creator>
  <cp:lastModifiedBy>Gabriel Mendonça</cp:lastModifiedBy>
  <cp:revision>38</cp:revision>
  <dcterms:created xsi:type="dcterms:W3CDTF">2024-05-05T21:35:20Z</dcterms:created>
  <dcterms:modified xsi:type="dcterms:W3CDTF">2024-05-07T16:40:04Z</dcterms:modified>
</cp:coreProperties>
</file>