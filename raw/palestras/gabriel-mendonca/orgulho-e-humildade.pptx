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31"/>
  </p:notesMasterIdLst>
  <p:sldIdLst>
    <p:sldId id="256" r:id="rId2"/>
    <p:sldId id="281" r:id="rId3"/>
    <p:sldId id="332" r:id="rId4"/>
    <p:sldId id="331" r:id="rId5"/>
    <p:sldId id="299" r:id="rId6"/>
    <p:sldId id="300" r:id="rId7"/>
    <p:sldId id="320" r:id="rId8"/>
    <p:sldId id="321" r:id="rId9"/>
    <p:sldId id="322" r:id="rId10"/>
    <p:sldId id="323" r:id="rId11"/>
    <p:sldId id="324" r:id="rId12"/>
    <p:sldId id="263" r:id="rId13"/>
    <p:sldId id="334" r:id="rId14"/>
    <p:sldId id="335" r:id="rId15"/>
    <p:sldId id="336" r:id="rId16"/>
    <p:sldId id="337" r:id="rId17"/>
    <p:sldId id="338" r:id="rId18"/>
    <p:sldId id="304" r:id="rId19"/>
    <p:sldId id="339" r:id="rId20"/>
    <p:sldId id="340" r:id="rId21"/>
    <p:sldId id="341" r:id="rId22"/>
    <p:sldId id="333" r:id="rId23"/>
    <p:sldId id="301" r:id="rId24"/>
    <p:sldId id="325" r:id="rId25"/>
    <p:sldId id="327" r:id="rId26"/>
    <p:sldId id="328" r:id="rId27"/>
    <p:sldId id="329" r:id="rId28"/>
    <p:sldId id="298" r:id="rId29"/>
    <p:sldId id="30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napToObjects="1">
      <p:cViewPr varScale="1">
        <p:scale>
          <a:sx n="108" d="100"/>
          <a:sy n="108" d="100"/>
        </p:scale>
        <p:origin x="6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E63621-098A-46DE-9CEF-6BF24FAD1A39}" type="datetimeFigureOut">
              <a:rPr lang="pt-BR" smtClean="0"/>
              <a:t>25/11/2023</a:t>
            </a:fld>
            <a:endParaRPr lang="pt-B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1D164E-7B88-4CE0-BAAC-D07CA70835AA}" type="slidenum">
              <a:rPr lang="pt-BR" smtClean="0"/>
              <a:t>‹#›</a:t>
            </a:fld>
            <a:endParaRPr lang="pt-BR"/>
          </a:p>
        </p:txBody>
      </p:sp>
    </p:spTree>
    <p:extLst>
      <p:ext uri="{BB962C8B-B14F-4D97-AF65-F5344CB8AC3E}">
        <p14:creationId xmlns:p14="http://schemas.microsoft.com/office/powerpoint/2010/main" val="1212834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EF1D164E-7B88-4CE0-BAAC-D07CA70835AA}" type="slidenum">
              <a:rPr lang="pt-BR" smtClean="0"/>
              <a:t>17</a:t>
            </a:fld>
            <a:endParaRPr lang="pt-BR"/>
          </a:p>
        </p:txBody>
      </p:sp>
    </p:spTree>
    <p:extLst>
      <p:ext uri="{BB962C8B-B14F-4D97-AF65-F5344CB8AC3E}">
        <p14:creationId xmlns:p14="http://schemas.microsoft.com/office/powerpoint/2010/main" val="205593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EF1D164E-7B88-4CE0-BAAC-D07CA70835AA}" type="slidenum">
              <a:rPr lang="pt-BR" smtClean="0"/>
              <a:t>29</a:t>
            </a:fld>
            <a:endParaRPr lang="pt-BR"/>
          </a:p>
        </p:txBody>
      </p:sp>
    </p:spTree>
    <p:extLst>
      <p:ext uri="{BB962C8B-B14F-4D97-AF65-F5344CB8AC3E}">
        <p14:creationId xmlns:p14="http://schemas.microsoft.com/office/powerpoint/2010/main" val="2901844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4FFEB5-5D58-F544-8537-99AC2257EE22}" type="datetimeFigureOut">
              <a:rPr lang="en-US" smtClean="0"/>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F95DA-58D9-6F4A-8531-115A1DC47D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635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4FFEB5-5D58-F544-8537-99AC2257EE22}" type="datetimeFigureOut">
              <a:rPr lang="en-US" smtClean="0"/>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185360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4FFEB5-5D58-F544-8537-99AC2257EE22}" type="datetimeFigureOut">
              <a:rPr lang="en-US" smtClean="0"/>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F95DA-58D9-6F4A-8531-115A1DC47D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886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4FFEB5-5D58-F544-8537-99AC2257EE22}" type="datetimeFigureOut">
              <a:rPr lang="en-US" smtClean="0"/>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2412069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4FFEB5-5D58-F544-8537-99AC2257EE22}" type="datetimeFigureOut">
              <a:rPr lang="en-US" smtClean="0"/>
              <a:t>11/25/2023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661288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4FFEB5-5D58-F544-8537-99AC2257EE22}" type="datetimeFigureOut">
              <a:rPr lang="en-US" smtClean="0"/>
              <a:t>11/25/2023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3750741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04FFEB5-5D58-F544-8537-99AC2257EE22}" type="datetimeFigureOut">
              <a:rPr lang="en-US" smtClean="0"/>
              <a:t>11/25/2023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555101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4FFEB5-5D58-F544-8537-99AC2257EE22}" type="datetimeFigureOut">
              <a:rPr lang="en-US" smtClean="0"/>
              <a:t>11/25/2023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0F95DA-58D9-6F4A-8531-115A1DC47D40}" type="slidenum">
              <a:rPr lang="en-US" smtClean="0"/>
              <a:t>‹#›</a:t>
            </a:fld>
            <a:endParaRPr lang="en-US"/>
          </a:p>
        </p:txBody>
      </p:sp>
    </p:spTree>
    <p:extLst>
      <p:ext uri="{BB962C8B-B14F-4D97-AF65-F5344CB8AC3E}">
        <p14:creationId xmlns:p14="http://schemas.microsoft.com/office/powerpoint/2010/main" val="3156603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4FFEB5-5D58-F544-8537-99AC2257EE22}" type="datetimeFigureOut">
              <a:rPr lang="en-US" smtClean="0"/>
              <a:t>11/25/2023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1545390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4FFEB5-5D58-F544-8537-99AC2257EE22}" type="datetimeFigureOut">
              <a:rPr lang="en-US" smtClean="0"/>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3974043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4FFEB5-5D58-F544-8537-99AC2257EE22}" type="datetimeFigureOut">
              <a:rPr lang="en-US" smtClean="0"/>
              <a:t>11/25/2023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0F95DA-58D9-6F4A-8531-115A1DC47D40}" type="slidenum">
              <a:rPr lang="en-US" smtClean="0"/>
              <a:t>‹#›</a:t>
            </a:fld>
            <a:endParaRPr lang="en-US"/>
          </a:p>
        </p:txBody>
      </p:sp>
    </p:spTree>
    <p:extLst>
      <p:ext uri="{BB962C8B-B14F-4D97-AF65-F5344CB8AC3E}">
        <p14:creationId xmlns:p14="http://schemas.microsoft.com/office/powerpoint/2010/main" val="170922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04FFEB5-5D58-F544-8537-99AC2257EE22}" type="datetimeFigureOut">
              <a:rPr lang="en-US" smtClean="0"/>
              <a:t>11/25/2023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00F95DA-58D9-6F4A-8531-115A1DC47D4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3066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4AF0B-367D-8D4C-971B-9703DEA05E6E}"/>
              </a:ext>
            </a:extLst>
          </p:cNvPr>
          <p:cNvSpPr>
            <a:spLocks noGrp="1"/>
          </p:cNvSpPr>
          <p:nvPr>
            <p:ph type="ctrTitle"/>
          </p:nvPr>
        </p:nvSpPr>
        <p:spPr/>
        <p:txBody>
          <a:bodyPr>
            <a:noAutofit/>
          </a:bodyPr>
          <a:lstStyle/>
          <a:p>
            <a:pPr algn="ctr"/>
            <a:r>
              <a:rPr lang="en-US" sz="4800" dirty="0"/>
              <a:t>O </a:t>
            </a:r>
            <a:r>
              <a:rPr lang="en-US" sz="4800" dirty="0" err="1"/>
              <a:t>orgulho</a:t>
            </a:r>
            <a:r>
              <a:rPr lang="en-US" sz="4800" dirty="0"/>
              <a:t> e a </a:t>
            </a:r>
            <a:r>
              <a:rPr lang="en-US" sz="4800" dirty="0" err="1"/>
              <a:t>humildade</a:t>
            </a:r>
            <a:r>
              <a:rPr lang="en-US" sz="4800" dirty="0"/>
              <a:t>.</a:t>
            </a:r>
            <a:br>
              <a:rPr lang="en-US" sz="4800" dirty="0"/>
            </a:br>
            <a:r>
              <a:rPr lang="en-US" sz="4800" dirty="0" err="1"/>
              <a:t>Missão</a:t>
            </a:r>
            <a:r>
              <a:rPr lang="en-US" sz="4800" dirty="0"/>
              <a:t> do </a:t>
            </a:r>
            <a:r>
              <a:rPr lang="en-US" sz="4800" dirty="0" err="1"/>
              <a:t>homem</a:t>
            </a:r>
            <a:r>
              <a:rPr lang="en-US" sz="4800" dirty="0"/>
              <a:t> </a:t>
            </a:r>
            <a:r>
              <a:rPr lang="en-US" sz="4800" dirty="0" err="1"/>
              <a:t>inteligente</a:t>
            </a:r>
            <a:r>
              <a:rPr lang="en-US" sz="4800" dirty="0"/>
              <a:t> </a:t>
            </a:r>
            <a:r>
              <a:rPr lang="en-US" sz="4800" dirty="0" err="1"/>
              <a:t>na</a:t>
            </a:r>
            <a:r>
              <a:rPr lang="en-US" sz="4800" dirty="0"/>
              <a:t> Terra</a:t>
            </a:r>
            <a:endParaRPr lang="en-US" sz="4800" b="1" dirty="0"/>
          </a:p>
        </p:txBody>
      </p:sp>
      <p:sp>
        <p:nvSpPr>
          <p:cNvPr id="3" name="Subtitle 2">
            <a:extLst>
              <a:ext uri="{FF2B5EF4-FFF2-40B4-BE49-F238E27FC236}">
                <a16:creationId xmlns:a16="http://schemas.microsoft.com/office/drawing/2014/main" id="{3BF7E216-45CD-6641-9EE4-7C55D81A764D}"/>
              </a:ext>
            </a:extLst>
          </p:cNvPr>
          <p:cNvSpPr>
            <a:spLocks noGrp="1"/>
          </p:cNvSpPr>
          <p:nvPr>
            <p:ph type="subTitle" idx="1"/>
          </p:nvPr>
        </p:nvSpPr>
        <p:spPr/>
        <p:txBody>
          <a:bodyPr>
            <a:normAutofit/>
          </a:bodyPr>
          <a:lstStyle/>
          <a:p>
            <a:pPr algn="ctr"/>
            <a:r>
              <a:rPr lang="en-US" sz="2000" dirty="0"/>
              <a:t>O </a:t>
            </a:r>
            <a:r>
              <a:rPr lang="en-US" sz="2000" dirty="0" err="1"/>
              <a:t>Evangelho</a:t>
            </a:r>
            <a:r>
              <a:rPr lang="en-US" sz="2000" dirty="0"/>
              <a:t> Segundo o </a:t>
            </a:r>
            <a:r>
              <a:rPr lang="en-US" sz="2000" dirty="0" err="1"/>
              <a:t>Espiritismo</a:t>
            </a:r>
            <a:r>
              <a:rPr lang="en-US" sz="2000" dirty="0"/>
              <a:t>, </a:t>
            </a:r>
            <a:r>
              <a:rPr lang="en-US" sz="2000" dirty="0" err="1"/>
              <a:t>capítulo</a:t>
            </a:r>
            <a:r>
              <a:rPr lang="en-US" sz="2000" dirty="0"/>
              <a:t> 7</a:t>
            </a:r>
          </a:p>
        </p:txBody>
      </p:sp>
    </p:spTree>
    <p:extLst>
      <p:ext uri="{BB962C8B-B14F-4D97-AF65-F5344CB8AC3E}">
        <p14:creationId xmlns:p14="http://schemas.microsoft.com/office/powerpoint/2010/main" val="3735824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1529F-51A7-4626-8CB3-0F675A645C8D}"/>
              </a:ext>
            </a:extLst>
          </p:cNvPr>
          <p:cNvSpPr>
            <a:spLocks noGrp="1"/>
          </p:cNvSpPr>
          <p:nvPr>
            <p:ph type="title"/>
          </p:nvPr>
        </p:nvSpPr>
        <p:spPr/>
        <p:txBody>
          <a:bodyPr>
            <a:normAutofit/>
          </a:bodyPr>
          <a:lstStyle/>
          <a:p>
            <a:r>
              <a:rPr lang="pt-BR" dirty="0"/>
              <a:t>Mateus 5</a:t>
            </a:r>
            <a:br>
              <a:rPr lang="pt-BR" dirty="0"/>
            </a:br>
            <a:r>
              <a:rPr lang="pt-BR" sz="3200" dirty="0"/>
              <a:t>Bíblia Almeida Corrigida Fiel (João Ferreira de Almeida)</a:t>
            </a:r>
            <a:endParaRPr lang="pt-BR" dirty="0"/>
          </a:p>
        </p:txBody>
      </p:sp>
      <p:sp>
        <p:nvSpPr>
          <p:cNvPr id="3" name="Content Placeholder 2">
            <a:extLst>
              <a:ext uri="{FF2B5EF4-FFF2-40B4-BE49-F238E27FC236}">
                <a16:creationId xmlns:a16="http://schemas.microsoft.com/office/drawing/2014/main" id="{EBC53462-F28B-4BB8-B9B7-2EABB1B089F7}"/>
              </a:ext>
            </a:extLst>
          </p:cNvPr>
          <p:cNvSpPr>
            <a:spLocks noGrp="1"/>
          </p:cNvSpPr>
          <p:nvPr>
            <p:ph idx="1"/>
          </p:nvPr>
        </p:nvSpPr>
        <p:spPr/>
        <p:txBody>
          <a:bodyPr>
            <a:normAutofit/>
          </a:bodyPr>
          <a:lstStyle/>
          <a:p>
            <a:pPr marL="0" indent="0">
              <a:buNone/>
            </a:pPr>
            <a:r>
              <a:rPr lang="pt-BR" sz="4000" baseline="30000" dirty="0"/>
              <a:t>3</a:t>
            </a:r>
            <a:r>
              <a:rPr lang="pt-BR" sz="4000" dirty="0">
                <a:effectLst/>
              </a:rPr>
              <a:t> </a:t>
            </a:r>
            <a:r>
              <a:rPr lang="pt-BR" sz="3600" dirty="0">
                <a:effectLst/>
              </a:rPr>
              <a:t>Bem-aventurados os </a:t>
            </a:r>
            <a:r>
              <a:rPr lang="pt-BR" sz="3600" b="1" dirty="0">
                <a:effectLst/>
              </a:rPr>
              <a:t>pobres de espírito</a:t>
            </a:r>
            <a:r>
              <a:rPr lang="pt-BR" sz="3600" dirty="0">
                <a:effectLst/>
              </a:rPr>
              <a:t>, porque deles é o reino dos céus;</a:t>
            </a:r>
          </a:p>
        </p:txBody>
      </p:sp>
    </p:spTree>
    <p:extLst>
      <p:ext uri="{BB962C8B-B14F-4D97-AF65-F5344CB8AC3E}">
        <p14:creationId xmlns:p14="http://schemas.microsoft.com/office/powerpoint/2010/main" val="167728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1529F-51A7-4626-8CB3-0F675A645C8D}"/>
              </a:ext>
            </a:extLst>
          </p:cNvPr>
          <p:cNvSpPr>
            <a:spLocks noGrp="1"/>
          </p:cNvSpPr>
          <p:nvPr>
            <p:ph type="title"/>
          </p:nvPr>
        </p:nvSpPr>
        <p:spPr/>
        <p:txBody>
          <a:bodyPr>
            <a:normAutofit/>
          </a:bodyPr>
          <a:lstStyle/>
          <a:p>
            <a:r>
              <a:rPr lang="pt-BR" dirty="0"/>
              <a:t>Mateus 5</a:t>
            </a:r>
            <a:br>
              <a:rPr lang="pt-BR" dirty="0"/>
            </a:br>
            <a:r>
              <a:rPr lang="pt-BR" sz="3200" dirty="0"/>
              <a:t>Bíblia Almeida Corrigida Fiel (João Ferreira de Almeida)</a:t>
            </a:r>
            <a:endParaRPr lang="pt-BR" dirty="0"/>
          </a:p>
        </p:txBody>
      </p:sp>
      <p:sp>
        <p:nvSpPr>
          <p:cNvPr id="3" name="Content Placeholder 2">
            <a:extLst>
              <a:ext uri="{FF2B5EF4-FFF2-40B4-BE49-F238E27FC236}">
                <a16:creationId xmlns:a16="http://schemas.microsoft.com/office/drawing/2014/main" id="{EBC53462-F28B-4BB8-B9B7-2EABB1B089F7}"/>
              </a:ext>
            </a:extLst>
          </p:cNvPr>
          <p:cNvSpPr>
            <a:spLocks noGrp="1"/>
          </p:cNvSpPr>
          <p:nvPr>
            <p:ph idx="1"/>
          </p:nvPr>
        </p:nvSpPr>
        <p:spPr/>
        <p:txBody>
          <a:bodyPr>
            <a:normAutofit/>
          </a:bodyPr>
          <a:lstStyle/>
          <a:p>
            <a:pPr marL="0" indent="0">
              <a:buNone/>
            </a:pPr>
            <a:r>
              <a:rPr lang="pt-BR" sz="4000" baseline="30000" dirty="0"/>
              <a:t>3</a:t>
            </a:r>
            <a:r>
              <a:rPr lang="pt-BR" sz="4000" dirty="0">
                <a:effectLst/>
              </a:rPr>
              <a:t> </a:t>
            </a:r>
            <a:r>
              <a:rPr lang="pt-BR" sz="3600" dirty="0">
                <a:effectLst/>
              </a:rPr>
              <a:t>Bem-aventurados os </a:t>
            </a:r>
            <a:r>
              <a:rPr lang="pt-BR" sz="3600" b="1" dirty="0">
                <a:effectLst/>
              </a:rPr>
              <a:t>pobres de espírito</a:t>
            </a:r>
            <a:r>
              <a:rPr lang="pt-BR" sz="3600" dirty="0">
                <a:effectLst/>
              </a:rPr>
              <a:t>, porque deles é o reino dos céus;</a:t>
            </a:r>
          </a:p>
        </p:txBody>
      </p:sp>
      <p:sp>
        <p:nvSpPr>
          <p:cNvPr id="5" name="TextBox 4">
            <a:extLst>
              <a:ext uri="{FF2B5EF4-FFF2-40B4-BE49-F238E27FC236}">
                <a16:creationId xmlns:a16="http://schemas.microsoft.com/office/drawing/2014/main" id="{BC492981-750B-BB88-3642-B9F77F192BF2}"/>
              </a:ext>
            </a:extLst>
          </p:cNvPr>
          <p:cNvSpPr txBox="1"/>
          <p:nvPr/>
        </p:nvSpPr>
        <p:spPr>
          <a:xfrm>
            <a:off x="2399560" y="3426326"/>
            <a:ext cx="7392879" cy="707886"/>
          </a:xfrm>
          <a:prstGeom prst="rect">
            <a:avLst/>
          </a:prstGeom>
          <a:noFill/>
        </p:spPr>
        <p:txBody>
          <a:bodyPr wrap="square">
            <a:spAutoFit/>
          </a:bodyPr>
          <a:lstStyle/>
          <a:p>
            <a:pPr algn="ctr"/>
            <a:r>
              <a:rPr lang="pt-BR" sz="4000" b="1" dirty="0">
                <a:effectLst/>
                <a:latin typeface="+mj-lt"/>
              </a:rPr>
              <a:t>Pobres de espírito =&gt; Humildes</a:t>
            </a:r>
            <a:endParaRPr lang="pt-BR" sz="4000" dirty="0">
              <a:latin typeface="+mj-lt"/>
            </a:endParaRPr>
          </a:p>
        </p:txBody>
      </p:sp>
    </p:spTree>
    <p:extLst>
      <p:ext uri="{BB962C8B-B14F-4D97-AF65-F5344CB8AC3E}">
        <p14:creationId xmlns:p14="http://schemas.microsoft.com/office/powerpoint/2010/main" val="3751035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7F3C51-CE67-97AE-A2A8-D075F9AE2D42}"/>
              </a:ext>
            </a:extLst>
          </p:cNvPr>
          <p:cNvSpPr>
            <a:spLocks noGrp="1"/>
          </p:cNvSpPr>
          <p:nvPr>
            <p:ph type="title"/>
          </p:nvPr>
        </p:nvSpPr>
        <p:spPr/>
        <p:txBody>
          <a:bodyPr>
            <a:normAutofit/>
          </a:bodyPr>
          <a:lstStyle/>
          <a:p>
            <a:pPr algn="ctr"/>
            <a:r>
              <a:rPr lang="pt-BR" dirty="0"/>
              <a:t>A quem pertence o “reino da Terra”?</a:t>
            </a:r>
          </a:p>
        </p:txBody>
      </p:sp>
      <p:sp>
        <p:nvSpPr>
          <p:cNvPr id="5" name="Text Placeholder 4">
            <a:extLst>
              <a:ext uri="{FF2B5EF4-FFF2-40B4-BE49-F238E27FC236}">
                <a16:creationId xmlns:a16="http://schemas.microsoft.com/office/drawing/2014/main" id="{56CB8EC0-937A-B305-22A8-A6B1CABA19F4}"/>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66574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DBBBB0-087D-4FAF-AC15-48759828D124}"/>
              </a:ext>
            </a:extLst>
          </p:cNvPr>
          <p:cNvSpPr>
            <a:spLocks noGrp="1"/>
          </p:cNvSpPr>
          <p:nvPr>
            <p:ph type="title"/>
          </p:nvPr>
        </p:nvSpPr>
        <p:spPr/>
        <p:txBody>
          <a:bodyPr>
            <a:normAutofit/>
          </a:bodyPr>
          <a:lstStyle/>
          <a:p>
            <a:pPr algn="ctr"/>
            <a:r>
              <a:rPr lang="pt-BR" sz="4000" dirty="0"/>
              <a:t>KARDEC, Allan. </a:t>
            </a:r>
            <a:r>
              <a:rPr lang="pt-BR" sz="4000" b="1" dirty="0"/>
              <a:t>O Céu e o Inferno</a:t>
            </a:r>
            <a:r>
              <a:rPr lang="pt-BR" sz="4000" dirty="0"/>
              <a:t>. [Tradução de </a:t>
            </a:r>
            <a:r>
              <a:rPr lang="pt-BR" sz="4000" dirty="0" err="1"/>
              <a:t>Guillon</a:t>
            </a:r>
            <a:r>
              <a:rPr lang="pt-BR" sz="4000" dirty="0"/>
              <a:t> Ribeiro]. Rio de Janeiro: FEB, 2002.</a:t>
            </a:r>
          </a:p>
        </p:txBody>
      </p:sp>
      <p:sp>
        <p:nvSpPr>
          <p:cNvPr id="5" name="Text Placeholder 4">
            <a:extLst>
              <a:ext uri="{FF2B5EF4-FFF2-40B4-BE49-F238E27FC236}">
                <a16:creationId xmlns:a16="http://schemas.microsoft.com/office/drawing/2014/main" id="{0D471A9D-06F1-48DF-8A1A-68EE9F34535A}"/>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185443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6600" dirty="0"/>
              <a:t>A </a:t>
            </a:r>
            <a:r>
              <a:rPr lang="en-US" sz="6600" dirty="0" err="1"/>
              <a:t>Rainha</a:t>
            </a:r>
            <a:r>
              <a:rPr lang="en-US" sz="6600" dirty="0"/>
              <a:t> de Oude</a:t>
            </a:r>
            <a:endParaRPr lang="pt-BR" sz="66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type="body" idx="1"/>
          </p:nvPr>
        </p:nvSpPr>
        <p:spPr/>
        <p:txBody>
          <a:bodyPr>
            <a:normAutofit/>
          </a:bodyPr>
          <a:lstStyle/>
          <a:p>
            <a:pPr marL="0" indent="0">
              <a:buNone/>
            </a:pPr>
            <a:r>
              <a:rPr lang="pt-BR" sz="3600" dirty="0"/>
              <a:t>O Céu e o Inferno, 2ª parte, cap VII</a:t>
            </a:r>
          </a:p>
        </p:txBody>
      </p:sp>
    </p:spTree>
    <p:extLst>
      <p:ext uri="{BB962C8B-B14F-4D97-AF65-F5344CB8AC3E}">
        <p14:creationId xmlns:p14="http://schemas.microsoft.com/office/powerpoint/2010/main" val="3013487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15" name="Rectangle 14">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cxnSp>
        <p:nvCxnSpPr>
          <p:cNvPr id="17" name="Straight Connector 16">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204C574-231B-4BE3-A3ED-D37617D79330}"/>
              </a:ext>
            </a:extLst>
          </p:cNvPr>
          <p:cNvSpPr>
            <a:spLocks noGrp="1"/>
          </p:cNvSpPr>
          <p:nvPr>
            <p:ph type="title"/>
          </p:nvPr>
        </p:nvSpPr>
        <p:spPr>
          <a:xfrm>
            <a:off x="5181601" y="634946"/>
            <a:ext cx="6368142" cy="1450757"/>
          </a:xfrm>
        </p:spPr>
        <p:txBody>
          <a:bodyPr vert="horz" lIns="91440" tIns="45720" rIns="91440" bIns="45720" rtlCol="0" anchor="b">
            <a:normAutofit/>
          </a:bodyPr>
          <a:lstStyle/>
          <a:p>
            <a:r>
              <a:rPr lang="en-US" kern="1200" spc="-50" baseline="0" dirty="0">
                <a:solidFill>
                  <a:schemeClr val="tx1">
                    <a:lumMod val="75000"/>
                    <a:lumOff val="25000"/>
                  </a:schemeClr>
                </a:solidFill>
                <a:latin typeface="+mj-lt"/>
                <a:ea typeface="+mj-ea"/>
                <a:cs typeface="+mj-cs"/>
              </a:rPr>
              <a:t>A Rainha de Oude</a:t>
            </a:r>
          </a:p>
        </p:txBody>
      </p:sp>
      <p:pic>
        <p:nvPicPr>
          <p:cNvPr id="8" name="Content Placeholder 7" descr="A painting of a person&#10;&#10;Description automatically generated with medium confidence">
            <a:extLst>
              <a:ext uri="{FF2B5EF4-FFF2-40B4-BE49-F238E27FC236}">
                <a16:creationId xmlns:a16="http://schemas.microsoft.com/office/drawing/2014/main" id="{1CEE80CD-6D1C-4B75-9245-126F89DCC234}"/>
              </a:ext>
            </a:extLst>
          </p:cNvPr>
          <p:cNvPicPr>
            <a:picLocks noGrp="1" noChangeAspect="1"/>
          </p:cNvPicPr>
          <p:nvPr>
            <p:ph sz="half" idx="2"/>
          </p:nvPr>
        </p:nvPicPr>
        <p:blipFill rotWithShape="1">
          <a:blip r:embed="rId2"/>
          <a:srcRect l="13175" r="10057" b="-2"/>
          <a:stretch/>
        </p:blipFill>
        <p:spPr>
          <a:xfrm>
            <a:off x="20" y="-12128"/>
            <a:ext cx="4654276" cy="6870127"/>
          </a:xfrm>
          <a:prstGeom prst="rect">
            <a:avLst/>
          </a:prstGeom>
        </p:spPr>
      </p:pic>
      <p:cxnSp>
        <p:nvCxnSpPr>
          <p:cNvPr id="23" name="Straight Connector 2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B3CBBBC4-690C-40AE-8E7F-D363A477AF49}"/>
              </a:ext>
            </a:extLst>
          </p:cNvPr>
          <p:cNvSpPr>
            <a:spLocks noGrp="1"/>
          </p:cNvSpPr>
          <p:nvPr>
            <p:ph sz="half" idx="1"/>
          </p:nvPr>
        </p:nvSpPr>
        <p:spPr>
          <a:xfrm>
            <a:off x="5181601" y="2198914"/>
            <a:ext cx="6368142" cy="3670180"/>
          </a:xfrm>
        </p:spPr>
        <p:txBody>
          <a:bodyPr vert="horz" lIns="0" tIns="45720" rIns="0" bIns="45720" rtlCol="0">
            <a:normAutofit/>
          </a:bodyPr>
          <a:lstStyle/>
          <a:p>
            <a:pPr>
              <a:buFont typeface="Arial" panose="020B0604020202020204" pitchFamily="34" charset="0"/>
              <a:buChar char="•"/>
            </a:pPr>
            <a:r>
              <a:rPr lang="en-US" sz="3200" dirty="0"/>
              <a:t> </a:t>
            </a:r>
            <a:r>
              <a:rPr lang="en-US" sz="3200" dirty="0" err="1"/>
              <a:t>Chamada</a:t>
            </a:r>
            <a:r>
              <a:rPr lang="en-US" sz="3200" dirty="0"/>
              <a:t> </a:t>
            </a:r>
            <a:r>
              <a:rPr lang="pt-BR" sz="3200" dirty="0" err="1"/>
              <a:t>Malika</a:t>
            </a:r>
            <a:r>
              <a:rPr lang="pt-BR" sz="3200" dirty="0"/>
              <a:t> </a:t>
            </a:r>
            <a:r>
              <a:rPr lang="pt-BR" sz="3200" dirty="0" err="1"/>
              <a:t>Kishwar</a:t>
            </a:r>
            <a:endParaRPr lang="pt-BR" sz="3200" dirty="0"/>
          </a:p>
          <a:p>
            <a:pPr>
              <a:buFont typeface="Arial" panose="020B0604020202020204" pitchFamily="34" charset="0"/>
              <a:buChar char="•"/>
            </a:pPr>
            <a:r>
              <a:rPr lang="pt-BR" sz="3200" dirty="0"/>
              <a:t> Seguia a </a:t>
            </a:r>
            <a:r>
              <a:rPr lang="pt-BR" sz="3200" i="1" dirty="0" err="1"/>
              <a:t>purdah</a:t>
            </a:r>
            <a:endParaRPr lang="pt-BR" sz="3200" i="1" dirty="0"/>
          </a:p>
          <a:p>
            <a:pPr>
              <a:buFont typeface="Arial" panose="020B0604020202020204" pitchFamily="34" charset="0"/>
              <a:buChar char="•"/>
            </a:pPr>
            <a:r>
              <a:rPr lang="pt-BR" sz="3200" dirty="0"/>
              <a:t> Viajou em 1856 para a Inglaterra para defender seu reino</a:t>
            </a:r>
            <a:endParaRPr lang="en-US" sz="3200" dirty="0"/>
          </a:p>
          <a:p>
            <a:pPr>
              <a:buFont typeface="Arial" panose="020B0604020202020204" pitchFamily="34" charset="0"/>
              <a:buChar char="•"/>
            </a:pPr>
            <a:r>
              <a:rPr lang="en-US" sz="3200" dirty="0"/>
              <a:t> </a:t>
            </a:r>
            <a:r>
              <a:rPr lang="en-US" sz="3200" dirty="0" err="1"/>
              <a:t>Sepultada</a:t>
            </a:r>
            <a:r>
              <a:rPr lang="en-US" sz="3200" dirty="0"/>
              <a:t> no </a:t>
            </a:r>
            <a:r>
              <a:rPr lang="en-US" sz="3200" dirty="0" err="1"/>
              <a:t>cemitério</a:t>
            </a:r>
            <a:r>
              <a:rPr lang="en-US" sz="3200" dirty="0"/>
              <a:t> Père Lachaise </a:t>
            </a:r>
            <a:r>
              <a:rPr lang="en-US" sz="3200" dirty="0" err="1"/>
              <a:t>em</a:t>
            </a:r>
            <a:r>
              <a:rPr lang="en-US" sz="3200" dirty="0"/>
              <a:t> 1858</a:t>
            </a:r>
          </a:p>
        </p:txBody>
      </p:sp>
    </p:spTree>
    <p:extLst>
      <p:ext uri="{BB962C8B-B14F-4D97-AF65-F5344CB8AC3E}">
        <p14:creationId xmlns:p14="http://schemas.microsoft.com/office/powerpoint/2010/main" val="2064023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04C574-231B-4BE3-A3ED-D37617D79330}"/>
              </a:ext>
            </a:extLst>
          </p:cNvPr>
          <p:cNvSpPr>
            <a:spLocks noGrp="1"/>
          </p:cNvSpPr>
          <p:nvPr>
            <p:ph type="title"/>
          </p:nvPr>
        </p:nvSpPr>
        <p:spPr>
          <a:xfrm>
            <a:off x="5181601" y="279943"/>
            <a:ext cx="6368142" cy="1450757"/>
          </a:xfrm>
        </p:spPr>
        <p:txBody>
          <a:bodyPr vert="horz" lIns="91440" tIns="45720" rIns="91440" bIns="45720" rtlCol="0" anchor="b">
            <a:normAutofit/>
          </a:bodyPr>
          <a:lstStyle/>
          <a:p>
            <a:r>
              <a:rPr lang="en-US" kern="1200" spc="-50" baseline="0" dirty="0">
                <a:solidFill>
                  <a:schemeClr val="tx1">
                    <a:lumMod val="75000"/>
                    <a:lumOff val="25000"/>
                  </a:schemeClr>
                </a:solidFill>
                <a:latin typeface="+mj-lt"/>
                <a:ea typeface="+mj-ea"/>
                <a:cs typeface="+mj-cs"/>
              </a:rPr>
              <a:t>A Rainha de Oude</a:t>
            </a:r>
          </a:p>
        </p:txBody>
      </p:sp>
      <p:pic>
        <p:nvPicPr>
          <p:cNvPr id="8" name="Content Placeholder 7" descr="A painting of a person&#10;&#10;Description automatically generated with medium confidence">
            <a:extLst>
              <a:ext uri="{FF2B5EF4-FFF2-40B4-BE49-F238E27FC236}">
                <a16:creationId xmlns:a16="http://schemas.microsoft.com/office/drawing/2014/main" id="{1CEE80CD-6D1C-4B75-9245-126F89DCC234}"/>
              </a:ext>
            </a:extLst>
          </p:cNvPr>
          <p:cNvPicPr>
            <a:picLocks noGrp="1" noChangeAspect="1"/>
          </p:cNvPicPr>
          <p:nvPr>
            <p:ph sz="half" idx="2"/>
          </p:nvPr>
        </p:nvPicPr>
        <p:blipFill rotWithShape="1">
          <a:blip r:embed="rId2"/>
          <a:srcRect l="13175" r="10057" b="-2"/>
          <a:stretch/>
        </p:blipFill>
        <p:spPr>
          <a:xfrm>
            <a:off x="20" y="-12128"/>
            <a:ext cx="4654276" cy="6870127"/>
          </a:xfrm>
          <a:prstGeom prst="rect">
            <a:avLst/>
          </a:prstGeom>
        </p:spPr>
      </p:pic>
      <p:sp>
        <p:nvSpPr>
          <p:cNvPr id="5" name="Content Placeholder 4">
            <a:extLst>
              <a:ext uri="{FF2B5EF4-FFF2-40B4-BE49-F238E27FC236}">
                <a16:creationId xmlns:a16="http://schemas.microsoft.com/office/drawing/2014/main" id="{B3CBBBC4-690C-40AE-8E7F-D363A477AF49}"/>
              </a:ext>
            </a:extLst>
          </p:cNvPr>
          <p:cNvSpPr>
            <a:spLocks noGrp="1"/>
          </p:cNvSpPr>
          <p:nvPr>
            <p:ph sz="half" idx="1"/>
          </p:nvPr>
        </p:nvSpPr>
        <p:spPr>
          <a:xfrm>
            <a:off x="5181601" y="2198914"/>
            <a:ext cx="6368142" cy="3670180"/>
          </a:xfrm>
        </p:spPr>
        <p:txBody>
          <a:bodyPr vert="horz" lIns="0" tIns="45720" rIns="0" bIns="45720" rtlCol="0">
            <a:normAutofit fontScale="92500" lnSpcReduction="20000"/>
          </a:bodyPr>
          <a:lstStyle/>
          <a:p>
            <a:pPr marL="0" indent="0">
              <a:buNone/>
            </a:pPr>
            <a:r>
              <a:rPr lang="pt-BR" sz="3200" b="1" dirty="0"/>
              <a:t>1.</a:t>
            </a:r>
            <a:r>
              <a:rPr lang="pt-BR" sz="3200" dirty="0"/>
              <a:t> Quais as vossas sensações ao deixardes o mundo terrestre?</a:t>
            </a:r>
          </a:p>
          <a:p>
            <a:pPr marL="0" indent="0">
              <a:buNone/>
            </a:pPr>
            <a:r>
              <a:rPr lang="pt-BR" sz="3200" dirty="0"/>
              <a:t>— R. Ainda perturbada, </a:t>
            </a:r>
            <a:r>
              <a:rPr lang="pt-BR" sz="3200" dirty="0" err="1"/>
              <a:t>torna-se-me</a:t>
            </a:r>
            <a:r>
              <a:rPr lang="pt-BR" sz="3200" dirty="0"/>
              <a:t> impossível explicá-las.</a:t>
            </a:r>
          </a:p>
          <a:p>
            <a:pPr marL="0" indent="0">
              <a:buNone/>
            </a:pPr>
            <a:r>
              <a:rPr lang="pt-BR" sz="3200" dirty="0"/>
              <a:t>— P. Sois feliz?</a:t>
            </a:r>
          </a:p>
          <a:p>
            <a:pPr marL="0" indent="0">
              <a:buNone/>
            </a:pPr>
            <a:r>
              <a:rPr lang="pt-BR" sz="3200" dirty="0"/>
              <a:t>— R. Tenho saudades da vida... Não sei... experimento acerba dor da qual a vida me libertaria... quisera que o corpo se levantasse do túmulo...</a:t>
            </a:r>
            <a:endParaRPr lang="en-US" sz="3200" dirty="0"/>
          </a:p>
        </p:txBody>
      </p:sp>
    </p:spTree>
    <p:extLst>
      <p:ext uri="{BB962C8B-B14F-4D97-AF65-F5344CB8AC3E}">
        <p14:creationId xmlns:p14="http://schemas.microsoft.com/office/powerpoint/2010/main" val="67376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04C574-231B-4BE3-A3ED-D37617D79330}"/>
              </a:ext>
            </a:extLst>
          </p:cNvPr>
          <p:cNvSpPr>
            <a:spLocks noGrp="1"/>
          </p:cNvSpPr>
          <p:nvPr>
            <p:ph type="title"/>
          </p:nvPr>
        </p:nvSpPr>
        <p:spPr>
          <a:xfrm>
            <a:off x="5181601" y="279943"/>
            <a:ext cx="6368142" cy="1450757"/>
          </a:xfrm>
        </p:spPr>
        <p:txBody>
          <a:bodyPr vert="horz" lIns="91440" tIns="45720" rIns="91440" bIns="45720" rtlCol="0" anchor="b">
            <a:normAutofit/>
          </a:bodyPr>
          <a:lstStyle/>
          <a:p>
            <a:r>
              <a:rPr lang="en-US" kern="1200" spc="-50" baseline="0" dirty="0">
                <a:solidFill>
                  <a:schemeClr val="tx1">
                    <a:lumMod val="75000"/>
                    <a:lumOff val="25000"/>
                  </a:schemeClr>
                </a:solidFill>
                <a:latin typeface="+mj-lt"/>
                <a:ea typeface="+mj-ea"/>
                <a:cs typeface="+mj-cs"/>
              </a:rPr>
              <a:t>A Rainha de Oude</a:t>
            </a:r>
          </a:p>
        </p:txBody>
      </p:sp>
      <p:pic>
        <p:nvPicPr>
          <p:cNvPr id="8" name="Content Placeholder 7" descr="A painting of a person&#10;&#10;Description automatically generated with medium confidence">
            <a:extLst>
              <a:ext uri="{FF2B5EF4-FFF2-40B4-BE49-F238E27FC236}">
                <a16:creationId xmlns:a16="http://schemas.microsoft.com/office/drawing/2014/main" id="{1CEE80CD-6D1C-4B75-9245-126F89DCC234}"/>
              </a:ext>
            </a:extLst>
          </p:cNvPr>
          <p:cNvPicPr>
            <a:picLocks noGrp="1" noChangeAspect="1"/>
          </p:cNvPicPr>
          <p:nvPr>
            <p:ph sz="half" idx="2"/>
          </p:nvPr>
        </p:nvPicPr>
        <p:blipFill rotWithShape="1">
          <a:blip r:embed="rId2"/>
          <a:srcRect l="13175" r="10057" b="-2"/>
          <a:stretch/>
        </p:blipFill>
        <p:spPr>
          <a:xfrm>
            <a:off x="20" y="-12128"/>
            <a:ext cx="4654276" cy="6870127"/>
          </a:xfrm>
          <a:prstGeom prst="rect">
            <a:avLst/>
          </a:prstGeom>
        </p:spPr>
      </p:pic>
      <p:sp>
        <p:nvSpPr>
          <p:cNvPr id="5" name="Content Placeholder 4">
            <a:extLst>
              <a:ext uri="{FF2B5EF4-FFF2-40B4-BE49-F238E27FC236}">
                <a16:creationId xmlns:a16="http://schemas.microsoft.com/office/drawing/2014/main" id="{B3CBBBC4-690C-40AE-8E7F-D363A477AF49}"/>
              </a:ext>
            </a:extLst>
          </p:cNvPr>
          <p:cNvSpPr>
            <a:spLocks noGrp="1"/>
          </p:cNvSpPr>
          <p:nvPr>
            <p:ph sz="half" idx="1"/>
          </p:nvPr>
        </p:nvSpPr>
        <p:spPr>
          <a:xfrm>
            <a:off x="5181601" y="2198914"/>
            <a:ext cx="6368142" cy="3670180"/>
          </a:xfrm>
        </p:spPr>
        <p:txBody>
          <a:bodyPr vert="horz" lIns="0" tIns="45720" rIns="0" bIns="45720" rtlCol="0">
            <a:normAutofit fontScale="77500" lnSpcReduction="20000"/>
          </a:bodyPr>
          <a:lstStyle/>
          <a:p>
            <a:pPr marL="0" indent="0">
              <a:buNone/>
            </a:pPr>
            <a:r>
              <a:rPr lang="pt-BR" sz="3200" b="1" dirty="0"/>
              <a:t>2. </a:t>
            </a:r>
            <a:r>
              <a:rPr lang="pt-BR" sz="3200" dirty="0"/>
              <a:t>Lamentais o ter sido sepultada entre cristãos, que não no vosso país?</a:t>
            </a:r>
          </a:p>
          <a:p>
            <a:pPr marL="0" indent="0">
              <a:buNone/>
            </a:pPr>
            <a:r>
              <a:rPr lang="pt-BR" sz="3200" dirty="0"/>
              <a:t>— R. Sim, a terra indiana menos me pesaria sobre o corpo.</a:t>
            </a:r>
          </a:p>
          <a:p>
            <a:pPr marL="0" indent="0">
              <a:buNone/>
            </a:pPr>
            <a:r>
              <a:rPr lang="pt-BR" sz="3200" dirty="0"/>
              <a:t>— P. Que pensais das honras fúnebres tributadas aos vossos despojos?</a:t>
            </a:r>
          </a:p>
          <a:p>
            <a:pPr marL="0" indent="0">
              <a:buNone/>
            </a:pPr>
            <a:r>
              <a:rPr lang="pt-BR" sz="3200" dirty="0"/>
              <a:t>— R. Não foram grande coisa, pois eu era rainha e nem todos se curvaram diante de mim... Deixai-me... forçam-me a falar, quando não quero que saibais o que ora sou... Asseguro-vos, eu era rainha...</a:t>
            </a:r>
            <a:endParaRPr lang="en-US" sz="3200" dirty="0"/>
          </a:p>
        </p:txBody>
      </p:sp>
    </p:spTree>
    <p:extLst>
      <p:ext uri="{BB962C8B-B14F-4D97-AF65-F5344CB8AC3E}">
        <p14:creationId xmlns:p14="http://schemas.microsoft.com/office/powerpoint/2010/main" val="2182498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04C574-231B-4BE3-A3ED-D37617D79330}"/>
              </a:ext>
            </a:extLst>
          </p:cNvPr>
          <p:cNvSpPr>
            <a:spLocks noGrp="1"/>
          </p:cNvSpPr>
          <p:nvPr>
            <p:ph type="title"/>
          </p:nvPr>
        </p:nvSpPr>
        <p:spPr>
          <a:xfrm>
            <a:off x="5181601" y="279943"/>
            <a:ext cx="6368142" cy="1450757"/>
          </a:xfrm>
        </p:spPr>
        <p:txBody>
          <a:bodyPr vert="horz" lIns="91440" tIns="45720" rIns="91440" bIns="45720" rtlCol="0" anchor="b">
            <a:normAutofit/>
          </a:bodyPr>
          <a:lstStyle/>
          <a:p>
            <a:r>
              <a:rPr lang="en-US" kern="1200" spc="-50" baseline="0" dirty="0">
                <a:solidFill>
                  <a:schemeClr val="tx1">
                    <a:lumMod val="75000"/>
                    <a:lumOff val="25000"/>
                  </a:schemeClr>
                </a:solidFill>
                <a:latin typeface="+mj-lt"/>
                <a:ea typeface="+mj-ea"/>
                <a:cs typeface="+mj-cs"/>
              </a:rPr>
              <a:t>A Rainha de Oude</a:t>
            </a:r>
          </a:p>
        </p:txBody>
      </p:sp>
      <p:pic>
        <p:nvPicPr>
          <p:cNvPr id="8" name="Content Placeholder 7" descr="A painting of a person&#10;&#10;Description automatically generated with medium confidence">
            <a:extLst>
              <a:ext uri="{FF2B5EF4-FFF2-40B4-BE49-F238E27FC236}">
                <a16:creationId xmlns:a16="http://schemas.microsoft.com/office/drawing/2014/main" id="{1CEE80CD-6D1C-4B75-9245-126F89DCC234}"/>
              </a:ext>
            </a:extLst>
          </p:cNvPr>
          <p:cNvPicPr>
            <a:picLocks noGrp="1" noChangeAspect="1"/>
          </p:cNvPicPr>
          <p:nvPr>
            <p:ph sz="half" idx="2"/>
          </p:nvPr>
        </p:nvPicPr>
        <p:blipFill rotWithShape="1">
          <a:blip r:embed="rId2"/>
          <a:srcRect l="13175" r="10057" b="-2"/>
          <a:stretch/>
        </p:blipFill>
        <p:spPr>
          <a:xfrm>
            <a:off x="20" y="-12128"/>
            <a:ext cx="4654276" cy="6870127"/>
          </a:xfrm>
          <a:prstGeom prst="rect">
            <a:avLst/>
          </a:prstGeom>
        </p:spPr>
      </p:pic>
      <p:sp>
        <p:nvSpPr>
          <p:cNvPr id="5" name="Content Placeholder 4">
            <a:extLst>
              <a:ext uri="{FF2B5EF4-FFF2-40B4-BE49-F238E27FC236}">
                <a16:creationId xmlns:a16="http://schemas.microsoft.com/office/drawing/2014/main" id="{B3CBBBC4-690C-40AE-8E7F-D363A477AF49}"/>
              </a:ext>
            </a:extLst>
          </p:cNvPr>
          <p:cNvSpPr>
            <a:spLocks noGrp="1"/>
          </p:cNvSpPr>
          <p:nvPr>
            <p:ph sz="half" idx="1"/>
          </p:nvPr>
        </p:nvSpPr>
        <p:spPr>
          <a:xfrm>
            <a:off x="5181601" y="2198914"/>
            <a:ext cx="6368142" cy="3670180"/>
          </a:xfrm>
        </p:spPr>
        <p:txBody>
          <a:bodyPr vert="horz" lIns="0" tIns="45720" rIns="0" bIns="45720" rtlCol="0">
            <a:normAutofit fontScale="92500"/>
          </a:bodyPr>
          <a:lstStyle/>
          <a:p>
            <a:pPr marL="0" indent="0">
              <a:buNone/>
            </a:pPr>
            <a:r>
              <a:rPr lang="pt-BR" sz="2400" b="1" dirty="0"/>
              <a:t>5. </a:t>
            </a:r>
            <a:r>
              <a:rPr lang="pt-BR" sz="2400" dirty="0"/>
              <a:t>Vós, que vivestes nos esplendores do luxo, cercada de honras, que pensais hoje de tudo isso?</a:t>
            </a:r>
          </a:p>
          <a:p>
            <a:pPr marL="0" indent="0">
              <a:buNone/>
            </a:pPr>
            <a:r>
              <a:rPr lang="pt-BR" sz="2400" dirty="0"/>
              <a:t>— R. Que tenho direito.</a:t>
            </a:r>
          </a:p>
          <a:p>
            <a:pPr marL="0" indent="0">
              <a:buNone/>
            </a:pPr>
            <a:r>
              <a:rPr lang="pt-BR" sz="2400" dirty="0"/>
              <a:t>— </a:t>
            </a:r>
            <a:r>
              <a:rPr lang="pt-BR" sz="2400" b="1" dirty="0"/>
              <a:t>P. A vossa hierarquia terrestre concorreu para que tivésseis outra mais elevada nesse mundo em que ora estais?</a:t>
            </a:r>
          </a:p>
          <a:p>
            <a:pPr marL="0" indent="0">
              <a:buNone/>
            </a:pPr>
            <a:r>
              <a:rPr lang="pt-BR" sz="2400" dirty="0"/>
              <a:t>— R. Continuo a ser rainha... que se enviem escravas para me servirem!... Mas... não sei... parece-me que pouco se preocupam com a minha pessoa aqui... e contudo eu... sou sempre a mesma.</a:t>
            </a:r>
            <a:endParaRPr lang="en-US" sz="2400" dirty="0"/>
          </a:p>
        </p:txBody>
      </p:sp>
    </p:spTree>
    <p:extLst>
      <p:ext uri="{BB962C8B-B14F-4D97-AF65-F5344CB8AC3E}">
        <p14:creationId xmlns:p14="http://schemas.microsoft.com/office/powerpoint/2010/main" val="21701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04C574-231B-4BE3-A3ED-D37617D79330}"/>
              </a:ext>
            </a:extLst>
          </p:cNvPr>
          <p:cNvSpPr>
            <a:spLocks noGrp="1"/>
          </p:cNvSpPr>
          <p:nvPr>
            <p:ph type="title"/>
          </p:nvPr>
        </p:nvSpPr>
        <p:spPr>
          <a:xfrm>
            <a:off x="5181601" y="279943"/>
            <a:ext cx="6368142" cy="1450757"/>
          </a:xfrm>
        </p:spPr>
        <p:txBody>
          <a:bodyPr vert="horz" lIns="91440" tIns="45720" rIns="91440" bIns="45720" rtlCol="0" anchor="b">
            <a:normAutofit/>
          </a:bodyPr>
          <a:lstStyle/>
          <a:p>
            <a:r>
              <a:rPr lang="en-US" kern="1200" spc="-50" baseline="0" dirty="0">
                <a:solidFill>
                  <a:schemeClr val="tx1">
                    <a:lumMod val="75000"/>
                    <a:lumOff val="25000"/>
                  </a:schemeClr>
                </a:solidFill>
                <a:latin typeface="+mj-lt"/>
                <a:ea typeface="+mj-ea"/>
                <a:cs typeface="+mj-cs"/>
              </a:rPr>
              <a:t>A Rainha de Oude</a:t>
            </a:r>
          </a:p>
        </p:txBody>
      </p:sp>
      <p:pic>
        <p:nvPicPr>
          <p:cNvPr id="8" name="Content Placeholder 7" descr="A painting of a person&#10;&#10;Description automatically generated with medium confidence">
            <a:extLst>
              <a:ext uri="{FF2B5EF4-FFF2-40B4-BE49-F238E27FC236}">
                <a16:creationId xmlns:a16="http://schemas.microsoft.com/office/drawing/2014/main" id="{1CEE80CD-6D1C-4B75-9245-126F89DCC234}"/>
              </a:ext>
            </a:extLst>
          </p:cNvPr>
          <p:cNvPicPr>
            <a:picLocks noGrp="1" noChangeAspect="1"/>
          </p:cNvPicPr>
          <p:nvPr>
            <p:ph sz="half" idx="2"/>
          </p:nvPr>
        </p:nvPicPr>
        <p:blipFill rotWithShape="1">
          <a:blip r:embed="rId2"/>
          <a:srcRect l="13175" r="10057" b="-2"/>
          <a:stretch/>
        </p:blipFill>
        <p:spPr>
          <a:xfrm>
            <a:off x="20" y="-12128"/>
            <a:ext cx="4654276" cy="6870127"/>
          </a:xfrm>
          <a:prstGeom prst="rect">
            <a:avLst/>
          </a:prstGeom>
        </p:spPr>
      </p:pic>
      <p:sp>
        <p:nvSpPr>
          <p:cNvPr id="5" name="Content Placeholder 4">
            <a:extLst>
              <a:ext uri="{FF2B5EF4-FFF2-40B4-BE49-F238E27FC236}">
                <a16:creationId xmlns:a16="http://schemas.microsoft.com/office/drawing/2014/main" id="{B3CBBBC4-690C-40AE-8E7F-D363A477AF49}"/>
              </a:ext>
            </a:extLst>
          </p:cNvPr>
          <p:cNvSpPr>
            <a:spLocks noGrp="1"/>
          </p:cNvSpPr>
          <p:nvPr>
            <p:ph sz="half" idx="1"/>
          </p:nvPr>
        </p:nvSpPr>
        <p:spPr>
          <a:xfrm>
            <a:off x="5181601" y="2198914"/>
            <a:ext cx="6368142" cy="3670180"/>
          </a:xfrm>
        </p:spPr>
        <p:txBody>
          <a:bodyPr vert="horz" lIns="0" tIns="45720" rIns="0" bIns="45720" rtlCol="0">
            <a:normAutofit/>
          </a:bodyPr>
          <a:lstStyle/>
          <a:p>
            <a:pPr marL="0" indent="0">
              <a:buNone/>
            </a:pPr>
            <a:r>
              <a:rPr lang="pt-BR" sz="3200" b="1" dirty="0"/>
              <a:t>8. </a:t>
            </a:r>
            <a:r>
              <a:rPr lang="pt-BR" sz="3200" dirty="0"/>
              <a:t>Tendes reminiscências de encarnações  anteriores a esta que vindes de deixar?</a:t>
            </a:r>
          </a:p>
          <a:p>
            <a:pPr marL="0" indent="0">
              <a:buNone/>
            </a:pPr>
            <a:r>
              <a:rPr lang="pt-BR" sz="3200" dirty="0"/>
              <a:t>— R. Deveria ter sido sempre rainha.</a:t>
            </a:r>
            <a:endParaRPr lang="en-US" sz="3200" dirty="0"/>
          </a:p>
        </p:txBody>
      </p:sp>
    </p:spTree>
    <p:extLst>
      <p:ext uri="{BB962C8B-B14F-4D97-AF65-F5344CB8AC3E}">
        <p14:creationId xmlns:p14="http://schemas.microsoft.com/office/powerpoint/2010/main" val="270149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DBBBB0-087D-4FAF-AC15-48759828D124}"/>
              </a:ext>
            </a:extLst>
          </p:cNvPr>
          <p:cNvSpPr>
            <a:spLocks noGrp="1"/>
          </p:cNvSpPr>
          <p:nvPr>
            <p:ph type="title"/>
          </p:nvPr>
        </p:nvSpPr>
        <p:spPr/>
        <p:txBody>
          <a:bodyPr>
            <a:normAutofit/>
          </a:bodyPr>
          <a:lstStyle/>
          <a:p>
            <a:pPr algn="ctr"/>
            <a:r>
              <a:rPr lang="pt-BR" sz="4000" dirty="0"/>
              <a:t>KARDEC, Allan. </a:t>
            </a:r>
            <a:r>
              <a:rPr lang="pt-BR" sz="4000" b="1" dirty="0"/>
              <a:t>O Evangelho Segundo o Espiritismo</a:t>
            </a:r>
            <a:r>
              <a:rPr lang="pt-BR" sz="4000" dirty="0"/>
              <a:t>. [Tradução de </a:t>
            </a:r>
            <a:r>
              <a:rPr lang="pt-BR" sz="4000" dirty="0" err="1"/>
              <a:t>Guillon</a:t>
            </a:r>
            <a:r>
              <a:rPr lang="pt-BR" sz="4000" dirty="0"/>
              <a:t> Ribeiro]. Rio de Janeiro: FEB, 2002.</a:t>
            </a:r>
          </a:p>
        </p:txBody>
      </p:sp>
      <p:sp>
        <p:nvSpPr>
          <p:cNvPr id="5" name="Text Placeholder 4">
            <a:extLst>
              <a:ext uri="{FF2B5EF4-FFF2-40B4-BE49-F238E27FC236}">
                <a16:creationId xmlns:a16="http://schemas.microsoft.com/office/drawing/2014/main" id="{0D471A9D-06F1-48DF-8A1A-68EE9F34535A}"/>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2101792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7200" dirty="0"/>
              <a:t>O </a:t>
            </a:r>
            <a:r>
              <a:rPr lang="en-US" sz="7200" dirty="0" err="1"/>
              <a:t>orgulho</a:t>
            </a:r>
            <a:r>
              <a:rPr lang="en-US" sz="7200" dirty="0"/>
              <a:t> e a </a:t>
            </a:r>
            <a:r>
              <a:rPr lang="en-US" sz="7200" dirty="0" err="1"/>
              <a:t>humildade</a:t>
            </a:r>
            <a:endParaRPr lang="pt-BR" sz="72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type="body" idx="1"/>
          </p:nvPr>
        </p:nvSpPr>
        <p:spPr/>
        <p:txBody>
          <a:bodyPr>
            <a:normAutofit/>
          </a:bodyPr>
          <a:lstStyle/>
          <a:p>
            <a:pPr marL="0" indent="0">
              <a:buNone/>
            </a:pPr>
            <a:r>
              <a:rPr lang="pt-BR" sz="3600" dirty="0"/>
              <a:t>Bem-aventurados os pobres de espírito</a:t>
            </a:r>
          </a:p>
        </p:txBody>
      </p:sp>
    </p:spTree>
    <p:extLst>
      <p:ext uri="{BB962C8B-B14F-4D97-AF65-F5344CB8AC3E}">
        <p14:creationId xmlns:p14="http://schemas.microsoft.com/office/powerpoint/2010/main" val="1938946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pt-BR" sz="4000" dirty="0"/>
              <a:t>O orgulho e a humildade</a:t>
            </a:r>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a:bodyPr>
          <a:lstStyle/>
          <a:p>
            <a:pPr marL="201168" lvl="1" indent="0">
              <a:buNone/>
            </a:pPr>
            <a:r>
              <a:rPr lang="pt-BR" sz="3200" b="1" i="0" u="none" strike="noStrike" baseline="0" dirty="0">
                <a:solidFill>
                  <a:srgbClr val="231F20"/>
                </a:solidFill>
                <a:latin typeface="Brooklyn-Normal"/>
              </a:rPr>
              <a:t>11.</a:t>
            </a:r>
            <a:r>
              <a:rPr lang="pt-BR" sz="3200" b="0" i="0" u="none" strike="noStrike" baseline="0" dirty="0">
                <a:solidFill>
                  <a:srgbClr val="231F20"/>
                </a:solidFill>
                <a:latin typeface="Brooklyn-Normal"/>
              </a:rPr>
              <a:t> A humildade é virtude muito esquecida entre vós. Bem pouco seguidos são os exemplos que dela se vos têm dado. Entretanto, sem humildade, podeis ser caridosos com o vosso próximo?</a:t>
            </a:r>
            <a:endParaRPr lang="pt-BR" sz="4400" dirty="0"/>
          </a:p>
        </p:txBody>
      </p:sp>
    </p:spTree>
    <p:extLst>
      <p:ext uri="{BB962C8B-B14F-4D97-AF65-F5344CB8AC3E}">
        <p14:creationId xmlns:p14="http://schemas.microsoft.com/office/powerpoint/2010/main" val="2205352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pt-BR" sz="4000" dirty="0"/>
              <a:t>O orgulho e a humildade</a:t>
            </a:r>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lnSpcReduction="10000"/>
          </a:bodyPr>
          <a:lstStyle/>
          <a:p>
            <a:pPr marL="201168" lvl="1" indent="0">
              <a:buNone/>
            </a:pPr>
            <a:r>
              <a:rPr lang="pt-BR" sz="3200" b="1" i="0" u="none" strike="noStrike" baseline="0" dirty="0">
                <a:solidFill>
                  <a:srgbClr val="231F20"/>
                </a:solidFill>
                <a:latin typeface="Brooklyn-Normal"/>
              </a:rPr>
              <a:t>11.</a:t>
            </a:r>
            <a:r>
              <a:rPr lang="pt-BR" sz="3200" b="0" i="0" u="none" strike="noStrike" baseline="0" dirty="0">
                <a:solidFill>
                  <a:srgbClr val="231F20"/>
                </a:solidFill>
                <a:latin typeface="Brooklyn-Normal"/>
              </a:rPr>
              <a:t> </a:t>
            </a:r>
            <a:r>
              <a:rPr lang="pt-BR" sz="3200" b="0" i="1" u="none" strike="noStrike" baseline="0" dirty="0">
                <a:solidFill>
                  <a:srgbClr val="231F20"/>
                </a:solidFill>
                <a:latin typeface="Brooklyn-Normal"/>
              </a:rPr>
              <a:t>A humildade é virtude muito esquecida entre vós. Bem pouco seguidos são os exemplos que dela se vos têm dado. Entretanto, sem humildade, podeis ser caridosos com o vosso próximo? </a:t>
            </a:r>
            <a:r>
              <a:rPr lang="pt-BR" sz="3200" i="0" u="none" strike="noStrike" baseline="0" dirty="0">
                <a:solidFill>
                  <a:srgbClr val="231F20"/>
                </a:solidFill>
                <a:latin typeface="Brooklyn-Normal"/>
              </a:rPr>
              <a:t>Oh! não, pois que este sentimento nivela os homens, dizendo-lhes que todos são irmãos, que se devem auxiliar mutuamente, e os indu</a:t>
            </a:r>
            <a:r>
              <a:rPr lang="pt-BR" sz="3200" dirty="0">
                <a:solidFill>
                  <a:srgbClr val="231F20"/>
                </a:solidFill>
                <a:latin typeface="Brooklyn-Normal"/>
              </a:rPr>
              <a:t>z ao bem. Sem a humildade, apenas vos adornais de virtudes que não possuis, como se trouxésseis um vestuário para ocultar as deformidades do vosso corpo.</a:t>
            </a:r>
            <a:endParaRPr lang="pt-BR" sz="4400" dirty="0"/>
          </a:p>
        </p:txBody>
      </p:sp>
    </p:spTree>
    <p:extLst>
      <p:ext uri="{BB962C8B-B14F-4D97-AF65-F5344CB8AC3E}">
        <p14:creationId xmlns:p14="http://schemas.microsoft.com/office/powerpoint/2010/main" val="680270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pt-BR" sz="4000" dirty="0"/>
              <a:t>O orgulho e a humildade</a:t>
            </a:r>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a:bodyPr>
          <a:lstStyle/>
          <a:p>
            <a:pPr marL="201168" lvl="1" indent="0">
              <a:buNone/>
            </a:pPr>
            <a:r>
              <a:rPr lang="pt-BR" sz="4400" dirty="0"/>
              <a:t>	</a:t>
            </a:r>
            <a:r>
              <a:rPr lang="pt-BR" sz="3200" b="1" dirty="0">
                <a:solidFill>
                  <a:srgbClr val="231F20"/>
                </a:solidFill>
                <a:latin typeface="Brooklyn-Normal"/>
              </a:rPr>
              <a:t>O orgulho é o terrível adversário da humildade</a:t>
            </a:r>
            <a:r>
              <a:rPr lang="pt-BR" sz="3200" dirty="0">
                <a:solidFill>
                  <a:srgbClr val="231F20"/>
                </a:solidFill>
                <a:latin typeface="Brooklyn-Normal"/>
              </a:rPr>
              <a:t>. Se o Cristo prometia o reino dos céus aos mais pobres, é porque os grandes da Terra imaginam que os títulos e as riquezas são recompensas deferidas aos seus méritos e se consideram de essência mais pura do que a do pobre. (...) Deus vos distingue pelos corpos? O envoltório do pobre não é o mesmo que o do rico? Terá o Criador feito duas espécies de homens?</a:t>
            </a:r>
            <a:endParaRPr lang="pt-BR" sz="2000" dirty="0">
              <a:solidFill>
                <a:srgbClr val="231F20"/>
              </a:solidFill>
              <a:latin typeface="Brooklyn-Normal"/>
            </a:endParaRPr>
          </a:p>
        </p:txBody>
      </p:sp>
    </p:spTree>
    <p:extLst>
      <p:ext uri="{BB962C8B-B14F-4D97-AF65-F5344CB8AC3E}">
        <p14:creationId xmlns:p14="http://schemas.microsoft.com/office/powerpoint/2010/main" val="3174164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Close-up of several hands with palms facing down pointing towards center, overlapping">
            <a:extLst>
              <a:ext uri="{FF2B5EF4-FFF2-40B4-BE49-F238E27FC236}">
                <a16:creationId xmlns:a16="http://schemas.microsoft.com/office/drawing/2014/main" id="{164D2F3A-B47B-C6D7-026F-4D0923E6A850}"/>
              </a:ext>
            </a:extLst>
          </p:cNvPr>
          <p:cNvPicPr>
            <a:picLocks noChangeAspect="1"/>
          </p:cNvPicPr>
          <p:nvPr/>
        </p:nvPicPr>
        <p:blipFill rotWithShape="1">
          <a:blip r:embed="rId3">
            <a:alphaModFix amt="75000"/>
          </a:blip>
          <a:srcRect t="18854" b="18646"/>
          <a:stretch/>
        </p:blipFill>
        <p:spPr>
          <a:xfrm>
            <a:off x="20" y="10"/>
            <a:ext cx="12191980" cy="6857990"/>
          </a:xfrm>
          <a:prstGeom prst="rect">
            <a:avLst/>
          </a:prstGeom>
        </p:spPr>
      </p:pic>
      <p:sp>
        <p:nvSpPr>
          <p:cNvPr id="5" name="Content Placeholder 4">
            <a:extLst>
              <a:ext uri="{FF2B5EF4-FFF2-40B4-BE49-F238E27FC236}">
                <a16:creationId xmlns:a16="http://schemas.microsoft.com/office/drawing/2014/main" id="{BCCBD849-B44B-4A3C-882F-1566D135F691}"/>
              </a:ext>
            </a:extLst>
          </p:cNvPr>
          <p:cNvSpPr>
            <a:spLocks noGrp="1"/>
          </p:cNvSpPr>
          <p:nvPr>
            <p:ph idx="4294967295"/>
          </p:nvPr>
        </p:nvSpPr>
        <p:spPr>
          <a:xfrm>
            <a:off x="1571218" y="2055674"/>
            <a:ext cx="9049563" cy="3201598"/>
          </a:xfrm>
        </p:spPr>
        <p:txBody>
          <a:bodyPr>
            <a:normAutofit fontScale="92500"/>
          </a:bodyPr>
          <a:lstStyle/>
          <a:p>
            <a:pPr marL="201168" lvl="1" indent="0">
              <a:buNone/>
            </a:pPr>
            <a:r>
              <a:rPr lang="pt-BR" sz="4000" b="1" dirty="0">
                <a:ln w="25400">
                  <a:solidFill>
                    <a:schemeClr val="tx1"/>
                  </a:solidFill>
                </a:ln>
                <a:solidFill>
                  <a:schemeClr val="bg1"/>
                </a:solidFill>
                <a:effectLst>
                  <a:outerShdw blurRad="50800" dist="38100" dir="5400000" algn="t" rotWithShape="0">
                    <a:prstClr val="black">
                      <a:alpha val="40000"/>
                    </a:prstClr>
                  </a:outerShdw>
                </a:effectLst>
              </a:rPr>
              <a:t>	“Na balança divina, são iguais todos os homens; só as virtudes os distinguem aos olhos de Deus. São da mesma essência todos os Espíritos e formados de igual massa todos os corpos. Em nada os modificam os vossos títulos e os vossos nomes.”</a:t>
            </a:r>
          </a:p>
        </p:txBody>
      </p:sp>
    </p:spTree>
    <p:extLst>
      <p:ext uri="{BB962C8B-B14F-4D97-AF65-F5344CB8AC3E}">
        <p14:creationId xmlns:p14="http://schemas.microsoft.com/office/powerpoint/2010/main" val="319501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7200" dirty="0" err="1"/>
              <a:t>Missão</a:t>
            </a:r>
            <a:r>
              <a:rPr lang="en-US" sz="7200" dirty="0"/>
              <a:t> do </a:t>
            </a:r>
            <a:r>
              <a:rPr lang="en-US" sz="7200" dirty="0" err="1"/>
              <a:t>homem</a:t>
            </a:r>
            <a:r>
              <a:rPr lang="en-US" sz="7200" dirty="0"/>
              <a:t> </a:t>
            </a:r>
            <a:r>
              <a:rPr lang="en-US" sz="7200" dirty="0" err="1"/>
              <a:t>inteligente</a:t>
            </a:r>
            <a:r>
              <a:rPr lang="en-US" sz="7200" dirty="0"/>
              <a:t> </a:t>
            </a:r>
            <a:r>
              <a:rPr lang="en-US" sz="7200" dirty="0" err="1"/>
              <a:t>na</a:t>
            </a:r>
            <a:r>
              <a:rPr lang="en-US" sz="7200" dirty="0"/>
              <a:t> Terra</a:t>
            </a:r>
            <a:endParaRPr lang="pt-BR" sz="72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type="body" idx="1"/>
          </p:nvPr>
        </p:nvSpPr>
        <p:spPr/>
        <p:txBody>
          <a:bodyPr>
            <a:normAutofit/>
          </a:bodyPr>
          <a:lstStyle/>
          <a:p>
            <a:pPr marL="0" indent="0">
              <a:buNone/>
            </a:pPr>
            <a:r>
              <a:rPr lang="pt-BR" sz="3600" dirty="0"/>
              <a:t>Bem-aventurados os pobres de espírito</a:t>
            </a:r>
          </a:p>
        </p:txBody>
      </p:sp>
    </p:spTree>
    <p:extLst>
      <p:ext uri="{BB962C8B-B14F-4D97-AF65-F5344CB8AC3E}">
        <p14:creationId xmlns:p14="http://schemas.microsoft.com/office/powerpoint/2010/main" val="1322496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pt-BR" sz="4000" dirty="0"/>
              <a:t>Missão do homem inteligente na Terra</a:t>
            </a:r>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lnSpcReduction="10000"/>
          </a:bodyPr>
          <a:lstStyle/>
          <a:p>
            <a:pPr marL="201168" lvl="1" indent="0">
              <a:buNone/>
            </a:pPr>
            <a:r>
              <a:rPr lang="pt-BR" sz="3200" b="1" dirty="0">
                <a:solidFill>
                  <a:srgbClr val="231F20"/>
                </a:solidFill>
                <a:latin typeface="Brooklyn-Normal"/>
              </a:rPr>
              <a:t>13.</a:t>
            </a:r>
            <a:r>
              <a:rPr lang="pt-BR" sz="3200" dirty="0">
                <a:solidFill>
                  <a:srgbClr val="231F20"/>
                </a:solidFill>
                <a:latin typeface="Brooklyn-Normal"/>
              </a:rPr>
              <a:t> Não vos ensoberbais do que sabeis, porquanto esse saber tem limites muito estreitos no mundo em que habitais. Suponhamos sejais sumidades em inteligência neste planeta: nenhum direito tendes de envaidecer-vos. Se Deus, em seus desígnios, vos fez nascer num meio onde pudestes desenvolver a vossa inteligência, é que quer a utilizeis para o </a:t>
            </a:r>
            <a:r>
              <a:rPr lang="pt-BR" sz="3200" b="1" dirty="0">
                <a:solidFill>
                  <a:srgbClr val="231F20"/>
                </a:solidFill>
                <a:latin typeface="Brooklyn-Normal"/>
              </a:rPr>
              <a:t>bem de todos</a:t>
            </a:r>
            <a:r>
              <a:rPr lang="pt-BR" sz="3200" dirty="0">
                <a:solidFill>
                  <a:srgbClr val="231F20"/>
                </a:solidFill>
                <a:latin typeface="Brooklyn-Normal"/>
              </a:rPr>
              <a:t>; é uma </a:t>
            </a:r>
            <a:r>
              <a:rPr lang="pt-BR" sz="3200" b="1" dirty="0">
                <a:solidFill>
                  <a:srgbClr val="231F20"/>
                </a:solidFill>
                <a:latin typeface="Brooklyn-Normal"/>
              </a:rPr>
              <a:t>missão</a:t>
            </a:r>
            <a:r>
              <a:rPr lang="pt-BR" sz="3200" dirty="0">
                <a:solidFill>
                  <a:srgbClr val="231F20"/>
                </a:solidFill>
                <a:latin typeface="Brooklyn-Normal"/>
              </a:rPr>
              <a:t> que vos dá, pondo-vos nas mãos o instrumento com que podeis desenvolver, por vossa vez, as inteligências retardatárias e conduzi-las a Ele.</a:t>
            </a:r>
            <a:endParaRPr lang="pt-BR" sz="2000" b="1" dirty="0">
              <a:solidFill>
                <a:srgbClr val="231F20"/>
              </a:solidFill>
              <a:latin typeface="Brooklyn-Normal"/>
            </a:endParaRPr>
          </a:p>
        </p:txBody>
      </p:sp>
    </p:spTree>
    <p:extLst>
      <p:ext uri="{BB962C8B-B14F-4D97-AF65-F5344CB8AC3E}">
        <p14:creationId xmlns:p14="http://schemas.microsoft.com/office/powerpoint/2010/main" val="4135698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12" name="Rectangle 11">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cxnSp>
        <p:nvCxnSpPr>
          <p:cNvPr id="14" name="Straight Connector 13">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Person wearing rubber boots digging in dirt with a shovel">
            <a:extLst>
              <a:ext uri="{FF2B5EF4-FFF2-40B4-BE49-F238E27FC236}">
                <a16:creationId xmlns:a16="http://schemas.microsoft.com/office/drawing/2014/main" id="{451A4FD6-2727-3F43-8BC2-4A06FF2E2A8C}"/>
              </a:ext>
            </a:extLst>
          </p:cNvPr>
          <p:cNvPicPr>
            <a:picLocks noChangeAspect="1"/>
          </p:cNvPicPr>
          <p:nvPr/>
        </p:nvPicPr>
        <p:blipFill rotWithShape="1">
          <a:blip r:embed="rId2"/>
          <a:srcRect l="13212" r="-1" b="-1"/>
          <a:stretch/>
        </p:blipFill>
        <p:spPr>
          <a:xfrm>
            <a:off x="633999" y="640081"/>
            <a:ext cx="6909801" cy="5314406"/>
          </a:xfrm>
          <a:prstGeom prst="rect">
            <a:avLst/>
          </a:prstGeom>
        </p:spPr>
      </p:pic>
      <p:cxnSp>
        <p:nvCxnSpPr>
          <p:cNvPr id="18" name="Straight Connector 17">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BCCBD849-B44B-4A3C-882F-1566D135F691}"/>
              </a:ext>
            </a:extLst>
          </p:cNvPr>
          <p:cNvSpPr>
            <a:spLocks noGrp="1"/>
          </p:cNvSpPr>
          <p:nvPr>
            <p:ph idx="4294967295"/>
          </p:nvPr>
        </p:nvSpPr>
        <p:spPr>
          <a:xfrm>
            <a:off x="7859485" y="2198913"/>
            <a:ext cx="3690257" cy="3755565"/>
          </a:xfrm>
        </p:spPr>
        <p:txBody>
          <a:bodyPr vert="horz" lIns="0" tIns="45720" rIns="0" bIns="45720" rtlCol="0">
            <a:normAutofit/>
          </a:bodyPr>
          <a:lstStyle/>
          <a:p>
            <a:pPr marL="201168" lvl="1" indent="0">
              <a:buFont typeface="Calibri" panose="020F0502020204030204" pitchFamily="34" charset="0"/>
              <a:buNone/>
            </a:pPr>
            <a:r>
              <a:rPr lang="en-US" sz="2800" i="1" dirty="0"/>
              <a:t>“Que diríeis, se esse ajudante, em vez de trabalhar, erguesse a enxada para ferir seu patrão?”</a:t>
            </a:r>
          </a:p>
        </p:txBody>
      </p:sp>
      <p:sp>
        <p:nvSpPr>
          <p:cNvPr id="20" name="Rectangle 19">
            <a:extLst>
              <a:ext uri="{FF2B5EF4-FFF2-40B4-BE49-F238E27FC236}">
                <a16:creationId xmlns:a16="http://schemas.microsoft.com/office/drawing/2014/main" id="{6329CBCE-21AE-419D-AC1F-8ACF510A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F2DA012-1414-493D-888F-5D99D0BDA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302647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pt-BR" sz="4000" dirty="0"/>
              <a:t>Missão do homem inteligente na Terra</a:t>
            </a:r>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lnSpcReduction="10000"/>
          </a:bodyPr>
          <a:lstStyle/>
          <a:p>
            <a:pPr marL="201168" lvl="1" indent="0">
              <a:buNone/>
            </a:pPr>
            <a:r>
              <a:rPr lang="pt-BR" sz="3200" dirty="0">
                <a:solidFill>
                  <a:srgbClr val="231F20"/>
                </a:solidFill>
                <a:latin typeface="Brooklyn-Normal"/>
              </a:rPr>
              <a:t>	A inteligência é rica de méritos para o futuro, mas sob a condição de ser </a:t>
            </a:r>
            <a:r>
              <a:rPr lang="pt-BR" sz="3200" b="1" dirty="0">
                <a:solidFill>
                  <a:srgbClr val="231F20"/>
                </a:solidFill>
                <a:latin typeface="Brooklyn-Normal"/>
              </a:rPr>
              <a:t>bem empregada</a:t>
            </a:r>
            <a:r>
              <a:rPr lang="pt-BR" sz="3200" dirty="0">
                <a:solidFill>
                  <a:srgbClr val="231F20"/>
                </a:solidFill>
                <a:latin typeface="Brooklyn-Normal"/>
              </a:rPr>
              <a:t>. Se todos os homens que a possuem dela se servissem de conformidade com a vontade de Deus, fácil seria, para os Espíritos, a tarefa de fazer que a Humanidade avence. Infelizmente, muitos a tornam instrumento de orgulho e de perdição contra si mesmos. O homem abusa da inteligência como de todas as suas outras faculdades e, no entanto, não lhe faltam ensinamentos que o advirtam de que </a:t>
            </a:r>
            <a:r>
              <a:rPr lang="pt-BR" sz="3200" b="1" dirty="0">
                <a:solidFill>
                  <a:srgbClr val="231F20"/>
                </a:solidFill>
                <a:latin typeface="Brooklyn-Normal"/>
              </a:rPr>
              <a:t>uma poderosa mão pode retirar o que lhe concedeu</a:t>
            </a:r>
            <a:r>
              <a:rPr lang="pt-BR" sz="3200" dirty="0">
                <a:solidFill>
                  <a:srgbClr val="231F20"/>
                </a:solidFill>
                <a:latin typeface="Brooklyn-Normal"/>
              </a:rPr>
              <a:t>.</a:t>
            </a:r>
            <a:endParaRPr lang="pt-BR" sz="2000" b="1" dirty="0">
              <a:solidFill>
                <a:srgbClr val="231F20"/>
              </a:solidFill>
              <a:latin typeface="Brooklyn-Normal"/>
            </a:endParaRPr>
          </a:p>
        </p:txBody>
      </p:sp>
    </p:spTree>
    <p:extLst>
      <p:ext uri="{BB962C8B-B14F-4D97-AF65-F5344CB8AC3E}">
        <p14:creationId xmlns:p14="http://schemas.microsoft.com/office/powerpoint/2010/main" val="436746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DBBBB0-087D-4FAF-AC15-48759828D124}"/>
              </a:ext>
            </a:extLst>
          </p:cNvPr>
          <p:cNvSpPr>
            <a:spLocks noGrp="1"/>
          </p:cNvSpPr>
          <p:nvPr>
            <p:ph type="title"/>
          </p:nvPr>
        </p:nvSpPr>
        <p:spPr/>
        <p:txBody>
          <a:bodyPr>
            <a:normAutofit/>
          </a:bodyPr>
          <a:lstStyle/>
          <a:p>
            <a:pPr algn="ctr"/>
            <a:r>
              <a:rPr lang="pt-BR" sz="4000" dirty="0"/>
              <a:t>KARDEC, Allan. </a:t>
            </a:r>
            <a:r>
              <a:rPr lang="pt-BR" sz="4000" b="1" dirty="0"/>
              <a:t>O Céu e o Inferno</a:t>
            </a:r>
            <a:r>
              <a:rPr lang="pt-BR" sz="4000" dirty="0"/>
              <a:t>. [Tradução de </a:t>
            </a:r>
            <a:r>
              <a:rPr lang="pt-BR" sz="4000" dirty="0" err="1"/>
              <a:t>Guillon</a:t>
            </a:r>
            <a:r>
              <a:rPr lang="pt-BR" sz="4000" dirty="0"/>
              <a:t> Ribeiro]. Rio de Janeiro: FEB, 2002.</a:t>
            </a:r>
          </a:p>
        </p:txBody>
      </p:sp>
      <p:sp>
        <p:nvSpPr>
          <p:cNvPr id="5" name="Text Placeholder 4">
            <a:extLst>
              <a:ext uri="{FF2B5EF4-FFF2-40B4-BE49-F238E27FC236}">
                <a16:creationId xmlns:a16="http://schemas.microsoft.com/office/drawing/2014/main" id="{0D471A9D-06F1-48DF-8A1A-68EE9F34535A}"/>
              </a:ext>
            </a:extLst>
          </p:cNvPr>
          <p:cNvSpPr>
            <a:spLocks noGrp="1"/>
          </p:cNvSpPr>
          <p:nvPr>
            <p:ph type="body" idx="1"/>
          </p:nvPr>
        </p:nvSpPr>
        <p:spPr/>
        <p:txBody>
          <a:bodyPr/>
          <a:lstStyle/>
          <a:p>
            <a:endParaRPr lang="pt-BR"/>
          </a:p>
        </p:txBody>
      </p:sp>
    </p:spTree>
    <p:extLst>
      <p:ext uri="{BB962C8B-B14F-4D97-AF65-F5344CB8AC3E}">
        <p14:creationId xmlns:p14="http://schemas.microsoft.com/office/powerpoint/2010/main" val="2298844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6600" dirty="0" err="1"/>
              <a:t>Szymel</a:t>
            </a:r>
            <a:r>
              <a:rPr lang="en-US" sz="6600" dirty="0"/>
              <a:t> </a:t>
            </a:r>
            <a:r>
              <a:rPr lang="en-US" sz="6600" dirty="0" err="1"/>
              <a:t>Slizgol</a:t>
            </a:r>
            <a:endParaRPr lang="pt-BR" sz="66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type="body" idx="1"/>
          </p:nvPr>
        </p:nvSpPr>
        <p:spPr/>
        <p:txBody>
          <a:bodyPr>
            <a:normAutofit/>
          </a:bodyPr>
          <a:lstStyle/>
          <a:p>
            <a:pPr marL="0" indent="0">
              <a:buNone/>
            </a:pPr>
            <a:r>
              <a:rPr lang="pt-BR" sz="3600" dirty="0"/>
              <a:t>O Céu e o Inferno, 2ª parte, cap VIII</a:t>
            </a:r>
          </a:p>
        </p:txBody>
      </p:sp>
    </p:spTree>
    <p:extLst>
      <p:ext uri="{BB962C8B-B14F-4D97-AF65-F5344CB8AC3E}">
        <p14:creationId xmlns:p14="http://schemas.microsoft.com/office/powerpoint/2010/main" val="1070540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4000" dirty="0" err="1"/>
              <a:t>Szymel</a:t>
            </a:r>
            <a:r>
              <a:rPr lang="en-US" sz="4000" dirty="0"/>
              <a:t> </a:t>
            </a:r>
            <a:r>
              <a:rPr lang="en-US" sz="4000" dirty="0" err="1"/>
              <a:t>Slizgol</a:t>
            </a:r>
            <a:endParaRPr lang="pt-BR" sz="40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pt-BR" sz="4000" dirty="0"/>
              <a:t> Pobre israelita de Vilna (atual Lituânia)</a:t>
            </a:r>
          </a:p>
          <a:p>
            <a:pPr algn="l">
              <a:buFont typeface="Arial" panose="020B0604020202020204" pitchFamily="34" charset="0"/>
              <a:buChar char="•"/>
            </a:pPr>
            <a:r>
              <a:rPr lang="pt-BR" sz="4000" dirty="0"/>
              <a:t> Falecido em maio de 1865</a:t>
            </a:r>
          </a:p>
          <a:p>
            <a:pPr algn="l">
              <a:buFont typeface="Arial" panose="020B0604020202020204" pitchFamily="34" charset="0"/>
              <a:buChar char="•"/>
            </a:pPr>
            <a:r>
              <a:rPr lang="pt-BR" sz="4000" dirty="0"/>
              <a:t> Durante 30 anos mendigou</a:t>
            </a:r>
          </a:p>
          <a:p>
            <a:pPr algn="l">
              <a:buFont typeface="Arial" panose="020B0604020202020204" pitchFamily="34" charset="0"/>
              <a:buChar char="•"/>
            </a:pPr>
            <a:r>
              <a:rPr lang="pt-BR" sz="4000" dirty="0"/>
              <a:t> Por toda a cidade era bem conhecida aquela voz que dizia: “Lembrai-vos dos pobres, das viúvas e dos órfãos!”</a:t>
            </a:r>
          </a:p>
          <a:p>
            <a:pPr algn="l">
              <a:buFont typeface="Arial" panose="020B0604020202020204" pitchFamily="34" charset="0"/>
              <a:buChar char="•"/>
            </a:pPr>
            <a:r>
              <a:rPr lang="pt-BR" sz="4000" dirty="0"/>
              <a:t> Aliviava e curava os enfermos; pagava o ensino de crianças pobres; distribuía aos necessitados a comida que lhe davam.</a:t>
            </a:r>
          </a:p>
          <a:p>
            <a:pPr>
              <a:buFont typeface="Arial" panose="020B0604020202020204" pitchFamily="34" charset="0"/>
              <a:buChar char="•"/>
            </a:pPr>
            <a:r>
              <a:rPr lang="pt-BR" sz="4000" dirty="0"/>
              <a:t> Foi só no mundo, e no entanto o seu enterro teve o acompanhamento de grande parte da população de Vilna, cujos armazéns cerraram as portas.</a:t>
            </a:r>
          </a:p>
        </p:txBody>
      </p:sp>
    </p:spTree>
    <p:extLst>
      <p:ext uri="{BB962C8B-B14F-4D97-AF65-F5344CB8AC3E}">
        <p14:creationId xmlns:p14="http://schemas.microsoft.com/office/powerpoint/2010/main" val="665310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4000" dirty="0" err="1"/>
              <a:t>Szymel</a:t>
            </a:r>
            <a:r>
              <a:rPr lang="en-US" sz="4000" dirty="0"/>
              <a:t> </a:t>
            </a:r>
            <a:r>
              <a:rPr lang="en-US" sz="4000" dirty="0" err="1"/>
              <a:t>Slizgol</a:t>
            </a:r>
            <a:endParaRPr lang="pt-BR" sz="40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a:bodyPr>
          <a:lstStyle/>
          <a:p>
            <a:pPr marL="0" indent="0" algn="l">
              <a:buNone/>
            </a:pPr>
            <a:r>
              <a:rPr lang="pt-BR" sz="2800" b="0" i="0" u="none" strike="noStrike" baseline="0" dirty="0">
                <a:solidFill>
                  <a:srgbClr val="231F20"/>
                </a:solidFill>
                <a:latin typeface="Brooklyn-Normal"/>
              </a:rPr>
              <a:t>	</a:t>
            </a:r>
            <a:r>
              <a:rPr lang="pt-BR" sz="3200" dirty="0"/>
              <a:t>“Faz muitos séculos, vivia eu com o título de rei, ou, pelo menos, de príncipe soberano. Dentro da esfera do meu poder relativamente limitado, em confronto com os atuais Estados, era eu, no entanto, absoluto senhor dos meus vassalos, como dos seus destinos, e governava-os tiranicamente, ou antes — digamos o próprio termo — como algoz.”</a:t>
            </a:r>
            <a:endParaRPr lang="pt-BR" sz="2800" dirty="0"/>
          </a:p>
        </p:txBody>
      </p:sp>
    </p:spTree>
    <p:extLst>
      <p:ext uri="{BB962C8B-B14F-4D97-AF65-F5344CB8AC3E}">
        <p14:creationId xmlns:p14="http://schemas.microsoft.com/office/powerpoint/2010/main" val="4156829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4000" dirty="0" err="1"/>
              <a:t>Szymel</a:t>
            </a:r>
            <a:r>
              <a:rPr lang="en-US" sz="4000" dirty="0"/>
              <a:t> </a:t>
            </a:r>
            <a:r>
              <a:rPr lang="en-US" sz="4000" dirty="0" err="1"/>
              <a:t>Slizgol</a:t>
            </a:r>
            <a:endParaRPr lang="pt-BR" sz="40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a:bodyPr>
          <a:lstStyle/>
          <a:p>
            <a:pPr marL="0" indent="0" algn="l">
              <a:buNone/>
            </a:pPr>
            <a:r>
              <a:rPr lang="pt-BR" sz="2800" b="0" i="0" u="none" strike="noStrike" baseline="0" dirty="0">
                <a:solidFill>
                  <a:srgbClr val="231F20"/>
                </a:solidFill>
                <a:latin typeface="Brooklyn-Normal"/>
              </a:rPr>
              <a:t>	</a:t>
            </a:r>
            <a:r>
              <a:rPr lang="pt-BR" sz="3200" dirty="0"/>
              <a:t>“Como Espírito, permaneci na erraticidade durante três e meio séculos, e, quando ao fim desse tempo compreendi que a razão de ser da reencarnação era inteiramente outra que não a seguida por meus grosseiros sentidos, obtive à força de preces, de resignação e de pesares a permissão de suportar materialmente os mesmos sofrimentos que infligira, e mais profundamente sensíveis que os por mim ocasionados.”</a:t>
            </a:r>
            <a:endParaRPr lang="pt-BR" sz="2800" dirty="0"/>
          </a:p>
        </p:txBody>
      </p:sp>
    </p:spTree>
    <p:extLst>
      <p:ext uri="{BB962C8B-B14F-4D97-AF65-F5344CB8AC3E}">
        <p14:creationId xmlns:p14="http://schemas.microsoft.com/office/powerpoint/2010/main" val="3826889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4000" dirty="0" err="1"/>
              <a:t>Szymel</a:t>
            </a:r>
            <a:r>
              <a:rPr lang="en-US" sz="4000" dirty="0"/>
              <a:t> </a:t>
            </a:r>
            <a:r>
              <a:rPr lang="en-US" sz="4000" dirty="0" err="1"/>
              <a:t>Slizgol</a:t>
            </a:r>
            <a:endParaRPr lang="pt-BR" sz="40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idx="1"/>
          </p:nvPr>
        </p:nvSpPr>
        <p:spPr/>
        <p:txBody>
          <a:bodyPr>
            <a:normAutofit/>
          </a:bodyPr>
          <a:lstStyle/>
          <a:p>
            <a:pPr marL="0" indent="0" algn="l">
              <a:buNone/>
            </a:pPr>
            <a:r>
              <a:rPr lang="pt-BR" sz="2800" b="0" i="0" u="none" strike="noStrike" baseline="0" dirty="0">
                <a:solidFill>
                  <a:srgbClr val="231F20"/>
                </a:solidFill>
                <a:latin typeface="Brooklyn-Normal"/>
              </a:rPr>
              <a:t>	</a:t>
            </a:r>
            <a:r>
              <a:rPr lang="pt-BR" sz="3200" dirty="0"/>
              <a:t>“Finalmente, preenchi uma existência de abnegação e caridade, que por si resgatou as faltas de outra, cruel e injusta. Nascido de pais pobres e cedo orfanado, aprendi a ganhar o pão numa idade em que muitos consideram incapaz o raciocínio.”</a:t>
            </a:r>
            <a:endParaRPr lang="pt-BR" sz="2800" dirty="0"/>
          </a:p>
        </p:txBody>
      </p:sp>
    </p:spTree>
    <p:extLst>
      <p:ext uri="{BB962C8B-B14F-4D97-AF65-F5344CB8AC3E}">
        <p14:creationId xmlns:p14="http://schemas.microsoft.com/office/powerpoint/2010/main" val="344193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DEB0A7-C3F1-4B4A-A20C-A773C27C4045}"/>
              </a:ext>
            </a:extLst>
          </p:cNvPr>
          <p:cNvSpPr>
            <a:spLocks noGrp="1"/>
          </p:cNvSpPr>
          <p:nvPr>
            <p:ph type="title"/>
          </p:nvPr>
        </p:nvSpPr>
        <p:spPr/>
        <p:txBody>
          <a:bodyPr>
            <a:normAutofit/>
          </a:bodyPr>
          <a:lstStyle/>
          <a:p>
            <a:r>
              <a:rPr lang="en-US" sz="6600" dirty="0" err="1"/>
              <a:t>Conclusão</a:t>
            </a:r>
            <a:endParaRPr lang="pt-BR" sz="6600" dirty="0"/>
          </a:p>
        </p:txBody>
      </p:sp>
      <p:sp>
        <p:nvSpPr>
          <p:cNvPr id="5" name="Content Placeholder 4">
            <a:extLst>
              <a:ext uri="{FF2B5EF4-FFF2-40B4-BE49-F238E27FC236}">
                <a16:creationId xmlns:a16="http://schemas.microsoft.com/office/drawing/2014/main" id="{BCCBD849-B44B-4A3C-882F-1566D135F691}"/>
              </a:ext>
            </a:extLst>
          </p:cNvPr>
          <p:cNvSpPr>
            <a:spLocks noGrp="1"/>
          </p:cNvSpPr>
          <p:nvPr>
            <p:ph type="body" idx="1"/>
          </p:nvPr>
        </p:nvSpPr>
        <p:spPr/>
        <p:txBody>
          <a:bodyPr>
            <a:normAutofit/>
          </a:bodyPr>
          <a:lstStyle/>
          <a:p>
            <a:pPr marL="0" indent="0">
              <a:buNone/>
            </a:pPr>
            <a:r>
              <a:rPr lang="pt-BR" sz="3600" dirty="0"/>
              <a:t>Bem-aventurados os pobres de espírito</a:t>
            </a:r>
          </a:p>
        </p:txBody>
      </p:sp>
    </p:spTree>
    <p:extLst>
      <p:ext uri="{BB962C8B-B14F-4D97-AF65-F5344CB8AC3E}">
        <p14:creationId xmlns:p14="http://schemas.microsoft.com/office/powerpoint/2010/main" val="3433304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person, crowd&#10;&#10;Description automatically generated">
            <a:extLst>
              <a:ext uri="{FF2B5EF4-FFF2-40B4-BE49-F238E27FC236}">
                <a16:creationId xmlns:a16="http://schemas.microsoft.com/office/drawing/2014/main" id="{D89E6AF8-073A-4F15-A134-B27628033C22}"/>
              </a:ext>
            </a:extLst>
          </p:cNvPr>
          <p:cNvPicPr>
            <a:picLocks noChangeAspect="1"/>
          </p:cNvPicPr>
          <p:nvPr/>
        </p:nvPicPr>
        <p:blipFill rotWithShape="1">
          <a:blip r:embed="rId3">
            <a:alphaModFix amt="85000"/>
          </a:blip>
          <a:srcRect l="23236" r="-23236"/>
          <a:stretch/>
        </p:blipFill>
        <p:spPr>
          <a:xfrm>
            <a:off x="0" y="-1"/>
            <a:ext cx="7941204" cy="6332561"/>
          </a:xfrm>
          <a:prstGeom prst="rect">
            <a:avLst/>
          </a:prstGeom>
        </p:spPr>
      </p:pic>
      <p:pic>
        <p:nvPicPr>
          <p:cNvPr id="7" name="Picture 6" descr="A group of crosses on a hill&#10;&#10;Description automatically generated with low confidence">
            <a:extLst>
              <a:ext uri="{FF2B5EF4-FFF2-40B4-BE49-F238E27FC236}">
                <a16:creationId xmlns:a16="http://schemas.microsoft.com/office/drawing/2014/main" id="{D3F27CDC-17E2-4285-8033-DBF5B27B68DD}"/>
              </a:ext>
            </a:extLst>
          </p:cNvPr>
          <p:cNvPicPr>
            <a:picLocks noChangeAspect="1"/>
          </p:cNvPicPr>
          <p:nvPr/>
        </p:nvPicPr>
        <p:blipFill rotWithShape="1">
          <a:blip r:embed="rId4">
            <a:alphaModFix amt="90000"/>
          </a:blip>
          <a:srcRect l="17606" r="14031"/>
          <a:stretch/>
        </p:blipFill>
        <p:spPr>
          <a:xfrm>
            <a:off x="6096000" y="13647"/>
            <a:ext cx="6096000" cy="6332561"/>
          </a:xfrm>
          <a:prstGeom prst="rect">
            <a:avLst/>
          </a:prstGeom>
        </p:spPr>
      </p:pic>
      <p:sp>
        <p:nvSpPr>
          <p:cNvPr id="13" name="TextBox 12">
            <a:extLst>
              <a:ext uri="{FF2B5EF4-FFF2-40B4-BE49-F238E27FC236}">
                <a16:creationId xmlns:a16="http://schemas.microsoft.com/office/drawing/2014/main" id="{82270C11-F440-47E6-9985-DC8A254FB1F2}"/>
              </a:ext>
            </a:extLst>
          </p:cNvPr>
          <p:cNvSpPr txBox="1"/>
          <p:nvPr/>
        </p:nvSpPr>
        <p:spPr>
          <a:xfrm>
            <a:off x="851648" y="4410635"/>
            <a:ext cx="10488705" cy="2554545"/>
          </a:xfrm>
          <a:prstGeom prst="rect">
            <a:avLst/>
          </a:prstGeom>
          <a:noFill/>
        </p:spPr>
        <p:txBody>
          <a:bodyPr wrap="square">
            <a:spAutoFit/>
          </a:bodyPr>
          <a:lstStyle/>
          <a:p>
            <a:r>
              <a:rPr lang="pt-BR" sz="4000" b="1" dirty="0">
                <a:ln w="25400">
                  <a:solidFill>
                    <a:schemeClr val="tx1"/>
                  </a:solidFill>
                </a:ln>
                <a:solidFill>
                  <a:schemeClr val="bg1"/>
                </a:solidFill>
                <a:effectLst>
                  <a:outerShdw blurRad="50800" dist="38100" dir="5400000" algn="t" rotWithShape="0">
                    <a:prstClr val="black">
                      <a:alpha val="40000"/>
                    </a:prstClr>
                  </a:outerShdw>
                </a:effectLst>
              </a:rPr>
              <a:t>“Lembrai-vos </a:t>
            </a:r>
            <a:r>
              <a:rPr lang="pt-BR" sz="4000" b="1" dirty="0" err="1">
                <a:ln w="25400">
                  <a:solidFill>
                    <a:schemeClr val="tx1"/>
                  </a:solidFill>
                </a:ln>
                <a:solidFill>
                  <a:schemeClr val="bg1"/>
                </a:solidFill>
                <a:effectLst>
                  <a:outerShdw blurRad="50800" dist="38100" dir="5400000" algn="t" rotWithShape="0">
                    <a:prstClr val="black">
                      <a:alpha val="40000"/>
                    </a:prstClr>
                  </a:outerShdw>
                </a:effectLst>
              </a:rPr>
              <a:t>dAquele</a:t>
            </a:r>
            <a:r>
              <a:rPr lang="pt-BR" sz="4000" b="1" dirty="0">
                <a:ln w="25400">
                  <a:solidFill>
                    <a:schemeClr val="tx1"/>
                  </a:solidFill>
                </a:ln>
                <a:solidFill>
                  <a:schemeClr val="bg1"/>
                </a:solidFill>
                <a:effectLst>
                  <a:outerShdw blurRad="50800" dist="38100" dir="5400000" algn="t" rotWithShape="0">
                    <a:prstClr val="black">
                      <a:alpha val="40000"/>
                    </a:prstClr>
                  </a:outerShdw>
                </a:effectLst>
              </a:rPr>
              <a:t> que nos salvou; lembrai-vos da sua humildade, que tão grande o fez, colocando-o acima de todos os profetas.”</a:t>
            </a:r>
          </a:p>
          <a:p>
            <a:pPr algn="r"/>
            <a:r>
              <a:rPr lang="pt-BR" sz="4000" b="1" dirty="0" err="1">
                <a:ln w="25400">
                  <a:solidFill>
                    <a:schemeClr val="tx1"/>
                  </a:solidFill>
                </a:ln>
                <a:solidFill>
                  <a:schemeClr val="bg1"/>
                </a:solidFill>
                <a:effectLst>
                  <a:outerShdw blurRad="50800" dist="38100" dir="5400000" algn="t" rotWithShape="0">
                    <a:prstClr val="black">
                      <a:alpha val="40000"/>
                    </a:prstClr>
                  </a:outerShdw>
                </a:effectLst>
              </a:rPr>
              <a:t>Lacordaire</a:t>
            </a:r>
            <a:endParaRPr lang="pt-BR" sz="4000" b="1" dirty="0">
              <a:ln w="25400">
                <a:solidFill>
                  <a:schemeClr val="tx1"/>
                </a:solidFill>
              </a:ln>
              <a:solidFill>
                <a:schemeClr val="bg1"/>
              </a:solidFill>
              <a:effectLst>
                <a:outerShdw blurRad="50800" dist="38100" dir="5400000" algn="t" rotWithShape="0">
                  <a:prstClr val="black">
                    <a:alpha val="40000"/>
                  </a:prstClr>
                </a:outerShdw>
              </a:effectLst>
            </a:endParaRPr>
          </a:p>
        </p:txBody>
      </p:sp>
    </p:spTree>
    <p:extLst>
      <p:ext uri="{BB962C8B-B14F-4D97-AF65-F5344CB8AC3E}">
        <p14:creationId xmlns:p14="http://schemas.microsoft.com/office/powerpoint/2010/main" val="55611731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520</TotalTime>
  <Words>1359</Words>
  <Application>Microsoft Office PowerPoint</Application>
  <PresentationFormat>Widescreen</PresentationFormat>
  <Paragraphs>73</Paragraphs>
  <Slides>29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Brooklyn-Normal</vt:lpstr>
      <vt:lpstr>Calibri</vt:lpstr>
      <vt:lpstr>Calibri Light</vt:lpstr>
      <vt:lpstr>Retrospect</vt:lpstr>
      <vt:lpstr>O orgulho e a humildade. Missão do homem inteligente na Terra</vt:lpstr>
      <vt:lpstr>Mateus 5 Bíblia Almeida Corrigida Fiel (João Ferreira de Almeida)</vt:lpstr>
      <vt:lpstr>Mateus 5 Bíblia Almeida Corrigida Fiel (João Ferreira de Almeida)</vt:lpstr>
      <vt:lpstr>A quem pertence o “reino da Terra”?</vt:lpstr>
      <vt:lpstr>KARDEC, Allan. O Céu e o Inferno. [Tradução de Guillon Ribeiro]. Rio de Janeiro: FEB, 2002.</vt:lpstr>
      <vt:lpstr>A Rainha de Oude</vt:lpstr>
      <vt:lpstr>A Rainha de Oude</vt:lpstr>
      <vt:lpstr>A Rainha de Oude</vt:lpstr>
      <vt:lpstr>A Rainha de Oude</vt:lpstr>
      <vt:lpstr>A Rainha de Oude</vt:lpstr>
      <vt:lpstr>A Rainha de Oude</vt:lpstr>
      <vt:lpstr>KARDEC, Allan. O Evangelho Segundo o Espiritismo. [Tradução de Guillon Ribeiro]. Rio de Janeiro: FEB, 2002.</vt:lpstr>
      <vt:lpstr>O orgulho e a humildade</vt:lpstr>
      <vt:lpstr>O orgulho e a humildade</vt:lpstr>
      <vt:lpstr>O orgulho e a humildade</vt:lpstr>
      <vt:lpstr>O orgulho e a humildade</vt:lpstr>
      <vt:lpstr>PowerPoint Presentation</vt:lpstr>
      <vt:lpstr>Missão do homem inteligente na Terra</vt:lpstr>
      <vt:lpstr>Missão do homem inteligente na Terra</vt:lpstr>
      <vt:lpstr>PowerPoint Presentation</vt:lpstr>
      <vt:lpstr>Missão do homem inteligente na Terra</vt:lpstr>
      <vt:lpstr>KARDEC, Allan. O Céu e o Inferno. [Tradução de Guillon Ribeiro]. Rio de Janeiro: FEB, 2002.</vt:lpstr>
      <vt:lpstr>Szymel Slizgol</vt:lpstr>
      <vt:lpstr>Szymel Slizgol</vt:lpstr>
      <vt:lpstr>Szymel Slizgol</vt:lpstr>
      <vt:lpstr>Szymel Slizgol</vt:lpstr>
      <vt:lpstr>Szymel Slizgol</vt:lpstr>
      <vt:lpstr>Conclusão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Gabriel Mendonça</cp:lastModifiedBy>
  <cp:revision>62</cp:revision>
  <dcterms:created xsi:type="dcterms:W3CDTF">2018-09-06T23:30:20Z</dcterms:created>
  <dcterms:modified xsi:type="dcterms:W3CDTF">2023-11-25T21:43:06Z</dcterms:modified>
</cp:coreProperties>
</file>